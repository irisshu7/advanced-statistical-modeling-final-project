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8" r:id="rId3"/>
    <p:sldId id="266" r:id="rId4"/>
    <p:sldId id="279" r:id="rId5"/>
    <p:sldId id="260" r:id="rId6"/>
    <p:sldId id="261" r:id="rId7"/>
    <p:sldId id="280" r:id="rId8"/>
    <p:sldId id="281" r:id="rId9"/>
    <p:sldId id="285" r:id="rId10"/>
    <p:sldId id="282" r:id="rId11"/>
    <p:sldId id="286" r:id="rId12"/>
    <p:sldId id="283" r:id="rId13"/>
    <p:sldId id="284" r:id="rId14"/>
    <p:sldId id="287" r:id="rId15"/>
    <p:sldId id="289" r:id="rId16"/>
    <p:sldId id="290" r:id="rId17"/>
    <p:sldId id="291" r:id="rId18"/>
    <p:sldId id="295" r:id="rId19"/>
    <p:sldId id="296" r:id="rId20"/>
    <p:sldId id="300" r:id="rId21"/>
    <p:sldId id="298" r:id="rId22"/>
    <p:sldId id="299" r:id="rId23"/>
    <p:sldId id="277" r:id="rId24"/>
    <p:sldId id="293" r:id="rId25"/>
    <p:sldId id="288" r:id="rId26"/>
    <p:sldId id="297" r:id="rId27"/>
    <p:sldId id="274" r:id="rId28"/>
    <p:sldId id="276" r:id="rId29"/>
    <p:sldId id="275" r:id="rId30"/>
    <p:sldId id="263" r:id="rId31"/>
    <p:sldId id="264" r:id="rId32"/>
    <p:sldId id="268" r:id="rId33"/>
    <p:sldId id="269" r:id="rId34"/>
    <p:sldId id="270" r:id="rId35"/>
    <p:sldId id="271" r:id="rId36"/>
    <p:sldId id="294" r:id="rId37"/>
    <p:sldId id="272" r:id="rId38"/>
    <p:sldId id="292" r:id="rId39"/>
    <p:sldId id="273"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5A0EAF-B9E7-9B56-4EE1-766CFCA92952}" v="1" dt="2026-07-15T02:56:35.9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BEC2F74-6556-4B7D-8E63-3CB00C0369A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4E996FE-D0BA-4B36-89A1-5C1BC2F32F77}">
      <dgm:prSet/>
      <dgm:spPr/>
      <dgm:t>
        <a:bodyPr/>
        <a:lstStyle/>
        <a:p>
          <a:r>
            <a:rPr lang="en-US"/>
            <a:t>Model development: Built logistic regression to predict departure delay.</a:t>
          </a:r>
        </a:p>
      </dgm:t>
    </dgm:pt>
    <dgm:pt modelId="{38331B7B-7E5E-4568-BAC4-ED991D1EDBA3}" type="parTrans" cxnId="{2E3A8C08-3F22-4179-9ABE-0F6E9F528BEE}">
      <dgm:prSet/>
      <dgm:spPr/>
      <dgm:t>
        <a:bodyPr/>
        <a:lstStyle/>
        <a:p>
          <a:endParaRPr lang="en-US"/>
        </a:p>
      </dgm:t>
    </dgm:pt>
    <dgm:pt modelId="{ED5B069A-486A-4304-B260-F7A64617FEC9}" type="sibTrans" cxnId="{2E3A8C08-3F22-4179-9ABE-0F6E9F528BEE}">
      <dgm:prSet/>
      <dgm:spPr/>
      <dgm:t>
        <a:bodyPr/>
        <a:lstStyle/>
        <a:p>
          <a:endParaRPr lang="en-US"/>
        </a:p>
      </dgm:t>
    </dgm:pt>
    <dgm:pt modelId="{6B68F87E-1295-47CE-A2F2-0B8EF224CD56}">
      <dgm:prSet/>
      <dgm:spPr/>
      <dgm:t>
        <a:bodyPr/>
        <a:lstStyle/>
        <a:p>
          <a:r>
            <a:rPr lang="en-US"/>
            <a:t>Adjustment made: Added weather variables (temp, humidity, wind, visibility). Included aircraft model (grouped to avoid sparse levels). Removed missing values for consistency.</a:t>
          </a:r>
        </a:p>
      </dgm:t>
    </dgm:pt>
    <dgm:pt modelId="{95C2259C-BF21-4DFA-B605-FBEB5ABDB3D8}" type="parTrans" cxnId="{BFE748B4-25E5-4DF8-A9EB-2931811269CE}">
      <dgm:prSet/>
      <dgm:spPr/>
      <dgm:t>
        <a:bodyPr/>
        <a:lstStyle/>
        <a:p>
          <a:endParaRPr lang="en-US"/>
        </a:p>
      </dgm:t>
    </dgm:pt>
    <dgm:pt modelId="{6A1CA1EB-C13A-4C3A-A89A-AAD7C3E2076F}" type="sibTrans" cxnId="{BFE748B4-25E5-4DF8-A9EB-2931811269CE}">
      <dgm:prSet/>
      <dgm:spPr/>
      <dgm:t>
        <a:bodyPr/>
        <a:lstStyle/>
        <a:p>
          <a:endParaRPr lang="en-US"/>
        </a:p>
      </dgm:t>
    </dgm:pt>
    <dgm:pt modelId="{6CF52610-6646-4B7C-951D-1B6E596F8BFA}">
      <dgm:prSet/>
      <dgm:spPr/>
      <dgm:t>
        <a:bodyPr/>
        <a:lstStyle/>
        <a:p>
          <a:r>
            <a:rPr lang="en-US"/>
            <a:t>Goal: Improve accuracy based on the most "likely" important variables that may affect our predictions.</a:t>
          </a:r>
        </a:p>
      </dgm:t>
    </dgm:pt>
    <dgm:pt modelId="{FCC825E5-EF95-498D-B463-08114860526E}" type="parTrans" cxnId="{E8911F8A-45B1-4743-AB1F-687DDB766680}">
      <dgm:prSet/>
      <dgm:spPr/>
      <dgm:t>
        <a:bodyPr/>
        <a:lstStyle/>
        <a:p>
          <a:endParaRPr lang="en-US"/>
        </a:p>
      </dgm:t>
    </dgm:pt>
    <dgm:pt modelId="{3A1F37EC-4AE7-450A-A4BD-25E3F487C352}" type="sibTrans" cxnId="{E8911F8A-45B1-4743-AB1F-687DDB766680}">
      <dgm:prSet/>
      <dgm:spPr/>
      <dgm:t>
        <a:bodyPr/>
        <a:lstStyle/>
        <a:p>
          <a:endParaRPr lang="en-US"/>
        </a:p>
      </dgm:t>
    </dgm:pt>
    <dgm:pt modelId="{E91CA050-ECE8-42C3-9A05-8692CA76210F}" type="pres">
      <dgm:prSet presAssocID="{FBEC2F74-6556-4B7D-8E63-3CB00C0369A0}" presName="root" presStyleCnt="0">
        <dgm:presLayoutVars>
          <dgm:dir/>
          <dgm:resizeHandles val="exact"/>
        </dgm:presLayoutVars>
      </dgm:prSet>
      <dgm:spPr/>
    </dgm:pt>
    <dgm:pt modelId="{FAE3D172-060D-4F59-875E-ED87A0849965}" type="pres">
      <dgm:prSet presAssocID="{04E996FE-D0BA-4B36-89A1-5C1BC2F32F77}" presName="compNode" presStyleCnt="0"/>
      <dgm:spPr/>
    </dgm:pt>
    <dgm:pt modelId="{EBA19B1A-E937-4FEC-93DF-14A1FF98389F}" type="pres">
      <dgm:prSet presAssocID="{04E996FE-D0BA-4B36-89A1-5C1BC2F32F7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统计数据"/>
        </a:ext>
      </dgm:extLst>
    </dgm:pt>
    <dgm:pt modelId="{302C792C-A06E-471C-B8DE-49DD3884685E}" type="pres">
      <dgm:prSet presAssocID="{04E996FE-D0BA-4B36-89A1-5C1BC2F32F77}" presName="spaceRect" presStyleCnt="0"/>
      <dgm:spPr/>
    </dgm:pt>
    <dgm:pt modelId="{87008BDB-9436-4BEC-8060-63495A22C664}" type="pres">
      <dgm:prSet presAssocID="{04E996FE-D0BA-4B36-89A1-5C1BC2F32F77}" presName="textRect" presStyleLbl="revTx" presStyleIdx="0" presStyleCnt="3">
        <dgm:presLayoutVars>
          <dgm:chMax val="1"/>
          <dgm:chPref val="1"/>
        </dgm:presLayoutVars>
      </dgm:prSet>
      <dgm:spPr/>
    </dgm:pt>
    <dgm:pt modelId="{BC439B97-AE55-407E-8601-32BCD20FF6BC}" type="pres">
      <dgm:prSet presAssocID="{ED5B069A-486A-4304-B260-F7A64617FEC9}" presName="sibTrans" presStyleCnt="0"/>
      <dgm:spPr/>
    </dgm:pt>
    <dgm:pt modelId="{D7AC4117-7E31-4CC5-B687-906FDB8F0ECA}" type="pres">
      <dgm:prSet presAssocID="{6B68F87E-1295-47CE-A2F2-0B8EF224CD56}" presName="compNode" presStyleCnt="0"/>
      <dgm:spPr/>
    </dgm:pt>
    <dgm:pt modelId="{A9ECB787-8CB6-43DB-9DE2-B0E0C406423B}" type="pres">
      <dgm:prSet presAssocID="{6B68F87E-1295-47CE-A2F2-0B8EF224CD5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iny scene"/>
        </a:ext>
      </dgm:extLst>
    </dgm:pt>
    <dgm:pt modelId="{3067AA25-8450-4F3D-8CF1-B32B5C690D15}" type="pres">
      <dgm:prSet presAssocID="{6B68F87E-1295-47CE-A2F2-0B8EF224CD56}" presName="spaceRect" presStyleCnt="0"/>
      <dgm:spPr/>
    </dgm:pt>
    <dgm:pt modelId="{F6E14BDE-8F07-475F-9F5D-6D9CE551929B}" type="pres">
      <dgm:prSet presAssocID="{6B68F87E-1295-47CE-A2F2-0B8EF224CD56}" presName="textRect" presStyleLbl="revTx" presStyleIdx="1" presStyleCnt="3">
        <dgm:presLayoutVars>
          <dgm:chMax val="1"/>
          <dgm:chPref val="1"/>
        </dgm:presLayoutVars>
      </dgm:prSet>
      <dgm:spPr/>
    </dgm:pt>
    <dgm:pt modelId="{04F52A24-14A9-494B-AED6-2AAE42D511E7}" type="pres">
      <dgm:prSet presAssocID="{6A1CA1EB-C13A-4C3A-A89A-AAD7C3E2076F}" presName="sibTrans" presStyleCnt="0"/>
      <dgm:spPr/>
    </dgm:pt>
    <dgm:pt modelId="{D4906337-51E9-463B-B55D-59C05552B4ED}" type="pres">
      <dgm:prSet presAssocID="{6CF52610-6646-4B7C-951D-1B6E596F8BFA}" presName="compNode" presStyleCnt="0"/>
      <dgm:spPr/>
    </dgm:pt>
    <dgm:pt modelId="{48A35D5D-36AA-4A4C-878B-356BD1A39D85}" type="pres">
      <dgm:prSet presAssocID="{6CF52610-6646-4B7C-951D-1B6E596F8BF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目标"/>
        </a:ext>
      </dgm:extLst>
    </dgm:pt>
    <dgm:pt modelId="{A9454776-6B39-4043-9667-C153C35A0811}" type="pres">
      <dgm:prSet presAssocID="{6CF52610-6646-4B7C-951D-1B6E596F8BFA}" presName="spaceRect" presStyleCnt="0"/>
      <dgm:spPr/>
    </dgm:pt>
    <dgm:pt modelId="{FCCEC0E4-054F-4ECC-B1EB-4B8697EFFF25}" type="pres">
      <dgm:prSet presAssocID="{6CF52610-6646-4B7C-951D-1B6E596F8BFA}" presName="textRect" presStyleLbl="revTx" presStyleIdx="2" presStyleCnt="3">
        <dgm:presLayoutVars>
          <dgm:chMax val="1"/>
          <dgm:chPref val="1"/>
        </dgm:presLayoutVars>
      </dgm:prSet>
      <dgm:spPr/>
    </dgm:pt>
  </dgm:ptLst>
  <dgm:cxnLst>
    <dgm:cxn modelId="{2E3A8C08-3F22-4179-9ABE-0F6E9F528BEE}" srcId="{FBEC2F74-6556-4B7D-8E63-3CB00C0369A0}" destId="{04E996FE-D0BA-4B36-89A1-5C1BC2F32F77}" srcOrd="0" destOrd="0" parTransId="{38331B7B-7E5E-4568-BAC4-ED991D1EDBA3}" sibTransId="{ED5B069A-486A-4304-B260-F7A64617FEC9}"/>
    <dgm:cxn modelId="{96CE0513-7F7C-4BD7-A25D-0DC393F58D38}" type="presOf" srcId="{6B68F87E-1295-47CE-A2F2-0B8EF224CD56}" destId="{F6E14BDE-8F07-475F-9F5D-6D9CE551929B}" srcOrd="0" destOrd="0" presId="urn:microsoft.com/office/officeart/2018/2/layout/IconLabelList"/>
    <dgm:cxn modelId="{DA758D1A-FC57-4B75-A2FD-43EE4CFDBB1E}" type="presOf" srcId="{04E996FE-D0BA-4B36-89A1-5C1BC2F32F77}" destId="{87008BDB-9436-4BEC-8060-63495A22C664}" srcOrd="0" destOrd="0" presId="urn:microsoft.com/office/officeart/2018/2/layout/IconLabelList"/>
    <dgm:cxn modelId="{F52F3F81-BC55-47CD-B03C-DAFF1F9BE07E}" type="presOf" srcId="{6CF52610-6646-4B7C-951D-1B6E596F8BFA}" destId="{FCCEC0E4-054F-4ECC-B1EB-4B8697EFFF25}" srcOrd="0" destOrd="0" presId="urn:microsoft.com/office/officeart/2018/2/layout/IconLabelList"/>
    <dgm:cxn modelId="{E8911F8A-45B1-4743-AB1F-687DDB766680}" srcId="{FBEC2F74-6556-4B7D-8E63-3CB00C0369A0}" destId="{6CF52610-6646-4B7C-951D-1B6E596F8BFA}" srcOrd="2" destOrd="0" parTransId="{FCC825E5-EF95-498D-B463-08114860526E}" sibTransId="{3A1F37EC-4AE7-450A-A4BD-25E3F487C352}"/>
    <dgm:cxn modelId="{BFE748B4-25E5-4DF8-A9EB-2931811269CE}" srcId="{FBEC2F74-6556-4B7D-8E63-3CB00C0369A0}" destId="{6B68F87E-1295-47CE-A2F2-0B8EF224CD56}" srcOrd="1" destOrd="0" parTransId="{95C2259C-BF21-4DFA-B605-FBEB5ABDB3D8}" sibTransId="{6A1CA1EB-C13A-4C3A-A89A-AAD7C3E2076F}"/>
    <dgm:cxn modelId="{253A22DD-5C58-46F8-8BF7-220AD128C828}" type="presOf" srcId="{FBEC2F74-6556-4B7D-8E63-3CB00C0369A0}" destId="{E91CA050-ECE8-42C3-9A05-8692CA76210F}" srcOrd="0" destOrd="0" presId="urn:microsoft.com/office/officeart/2018/2/layout/IconLabelList"/>
    <dgm:cxn modelId="{268F66C1-490E-4584-ACDE-87147901EA12}" type="presParOf" srcId="{E91CA050-ECE8-42C3-9A05-8692CA76210F}" destId="{FAE3D172-060D-4F59-875E-ED87A0849965}" srcOrd="0" destOrd="0" presId="urn:microsoft.com/office/officeart/2018/2/layout/IconLabelList"/>
    <dgm:cxn modelId="{16B1754C-96BF-4482-A2DB-E6FB0CD29420}" type="presParOf" srcId="{FAE3D172-060D-4F59-875E-ED87A0849965}" destId="{EBA19B1A-E937-4FEC-93DF-14A1FF98389F}" srcOrd="0" destOrd="0" presId="urn:microsoft.com/office/officeart/2018/2/layout/IconLabelList"/>
    <dgm:cxn modelId="{EC4627B6-53E1-460F-929E-8001F985F36C}" type="presParOf" srcId="{FAE3D172-060D-4F59-875E-ED87A0849965}" destId="{302C792C-A06E-471C-B8DE-49DD3884685E}" srcOrd="1" destOrd="0" presId="urn:microsoft.com/office/officeart/2018/2/layout/IconLabelList"/>
    <dgm:cxn modelId="{EE46B2CF-A1FE-4F86-B649-563C840ED31D}" type="presParOf" srcId="{FAE3D172-060D-4F59-875E-ED87A0849965}" destId="{87008BDB-9436-4BEC-8060-63495A22C664}" srcOrd="2" destOrd="0" presId="urn:microsoft.com/office/officeart/2018/2/layout/IconLabelList"/>
    <dgm:cxn modelId="{DBB6BB1E-85FE-4CFB-ADF7-D05ED8D68339}" type="presParOf" srcId="{E91CA050-ECE8-42C3-9A05-8692CA76210F}" destId="{BC439B97-AE55-407E-8601-32BCD20FF6BC}" srcOrd="1" destOrd="0" presId="urn:microsoft.com/office/officeart/2018/2/layout/IconLabelList"/>
    <dgm:cxn modelId="{FD2413F6-8BDA-4362-8018-5F413B96A35F}" type="presParOf" srcId="{E91CA050-ECE8-42C3-9A05-8692CA76210F}" destId="{D7AC4117-7E31-4CC5-B687-906FDB8F0ECA}" srcOrd="2" destOrd="0" presId="urn:microsoft.com/office/officeart/2018/2/layout/IconLabelList"/>
    <dgm:cxn modelId="{A788A4CA-6B3C-4846-AAF4-F7F0B90778BC}" type="presParOf" srcId="{D7AC4117-7E31-4CC5-B687-906FDB8F0ECA}" destId="{A9ECB787-8CB6-43DB-9DE2-B0E0C406423B}" srcOrd="0" destOrd="0" presId="urn:microsoft.com/office/officeart/2018/2/layout/IconLabelList"/>
    <dgm:cxn modelId="{B9682671-3175-49A2-BA03-7565B4C79680}" type="presParOf" srcId="{D7AC4117-7E31-4CC5-B687-906FDB8F0ECA}" destId="{3067AA25-8450-4F3D-8CF1-B32B5C690D15}" srcOrd="1" destOrd="0" presId="urn:microsoft.com/office/officeart/2018/2/layout/IconLabelList"/>
    <dgm:cxn modelId="{57EE51EE-E195-40E6-892F-3312EC223B3F}" type="presParOf" srcId="{D7AC4117-7E31-4CC5-B687-906FDB8F0ECA}" destId="{F6E14BDE-8F07-475F-9F5D-6D9CE551929B}" srcOrd="2" destOrd="0" presId="urn:microsoft.com/office/officeart/2018/2/layout/IconLabelList"/>
    <dgm:cxn modelId="{9A0AEA3F-9D79-461E-B562-A020C5DADC4B}" type="presParOf" srcId="{E91CA050-ECE8-42C3-9A05-8692CA76210F}" destId="{04F52A24-14A9-494B-AED6-2AAE42D511E7}" srcOrd="3" destOrd="0" presId="urn:microsoft.com/office/officeart/2018/2/layout/IconLabelList"/>
    <dgm:cxn modelId="{F6CB327D-8387-4F72-8458-B1B1A50DFC91}" type="presParOf" srcId="{E91CA050-ECE8-42C3-9A05-8692CA76210F}" destId="{D4906337-51E9-463B-B55D-59C05552B4ED}" srcOrd="4" destOrd="0" presId="urn:microsoft.com/office/officeart/2018/2/layout/IconLabelList"/>
    <dgm:cxn modelId="{B7E3450E-5CE8-4E24-A3C4-9943E39C9605}" type="presParOf" srcId="{D4906337-51E9-463B-B55D-59C05552B4ED}" destId="{48A35D5D-36AA-4A4C-878B-356BD1A39D85}" srcOrd="0" destOrd="0" presId="urn:microsoft.com/office/officeart/2018/2/layout/IconLabelList"/>
    <dgm:cxn modelId="{2C1CFA6E-3F15-4BD9-A17B-213EF5A09DA7}" type="presParOf" srcId="{D4906337-51E9-463B-B55D-59C05552B4ED}" destId="{A9454776-6B39-4043-9667-C153C35A0811}" srcOrd="1" destOrd="0" presId="urn:microsoft.com/office/officeart/2018/2/layout/IconLabelList"/>
    <dgm:cxn modelId="{9EF860DB-3CF8-4337-8E4E-357B85123E69}" type="presParOf" srcId="{D4906337-51E9-463B-B55D-59C05552B4ED}" destId="{FCCEC0E4-054F-4ECC-B1EB-4B8697EFFF2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19B1A-E937-4FEC-93DF-14A1FF98389F}">
      <dsp:nvSpPr>
        <dsp:cNvPr id="0" name=""/>
        <dsp:cNvSpPr/>
      </dsp:nvSpPr>
      <dsp:spPr>
        <a:xfrm>
          <a:off x="947201"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008BDB-9436-4BEC-8060-63495A22C664}">
      <dsp:nvSpPr>
        <dsp:cNvPr id="0" name=""/>
        <dsp:cNvSpPr/>
      </dsp:nvSpPr>
      <dsp:spPr>
        <a:xfrm>
          <a:off x="59990"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Model development: Built logistic regression to predict departure delay.</a:t>
          </a:r>
        </a:p>
      </dsp:txBody>
      <dsp:txXfrm>
        <a:off x="59990" y="2654049"/>
        <a:ext cx="3226223" cy="720000"/>
      </dsp:txXfrm>
    </dsp:sp>
    <dsp:sp modelId="{A9ECB787-8CB6-43DB-9DE2-B0E0C406423B}">
      <dsp:nvSpPr>
        <dsp:cNvPr id="0" name=""/>
        <dsp:cNvSpPr/>
      </dsp:nvSpPr>
      <dsp:spPr>
        <a:xfrm>
          <a:off x="4738014"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E14BDE-8F07-475F-9F5D-6D9CE551929B}">
      <dsp:nvSpPr>
        <dsp:cNvPr id="0" name=""/>
        <dsp:cNvSpPr/>
      </dsp:nvSpPr>
      <dsp:spPr>
        <a:xfrm>
          <a:off x="3850802"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Adjustment made: Added weather variables (temp, humidity, wind, visibility). Included aircraft model (grouped to avoid sparse levels). Removed missing values for consistency.</a:t>
          </a:r>
        </a:p>
      </dsp:txBody>
      <dsp:txXfrm>
        <a:off x="3850802" y="2654049"/>
        <a:ext cx="3226223" cy="720000"/>
      </dsp:txXfrm>
    </dsp:sp>
    <dsp:sp modelId="{48A35D5D-36AA-4A4C-878B-356BD1A39D85}">
      <dsp:nvSpPr>
        <dsp:cNvPr id="0" name=""/>
        <dsp:cNvSpPr/>
      </dsp:nvSpPr>
      <dsp:spPr>
        <a:xfrm>
          <a:off x="8528826" y="818755"/>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CEC0E4-054F-4ECC-B1EB-4B8697EFFF25}">
      <dsp:nvSpPr>
        <dsp:cNvPr id="0" name=""/>
        <dsp:cNvSpPr/>
      </dsp:nvSpPr>
      <dsp:spPr>
        <a:xfrm>
          <a:off x="7641615" y="2654049"/>
          <a:ext cx="3226223"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a:t>Goal: Improve accuracy based on the most "likely" important variables that may affect our predictions.</a:t>
          </a:r>
        </a:p>
      </dsp:txBody>
      <dsp:txXfrm>
        <a:off x="7641615" y="2654049"/>
        <a:ext cx="3226223"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792BCE-A4AD-41C1-B17D-4E171D4DAF2C}" type="datetimeFigureOut">
              <a:rPr lang="zh-CN" altLang="en-US" smtClean="0"/>
              <a:t>2026/7/14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CF119F-80F1-42B7-9DE3-1BB75DF54A89}" type="slidenum">
              <a:rPr lang="zh-CN" altLang="en-US" smtClean="0"/>
              <a:t>‹#›</a:t>
            </a:fld>
            <a:endParaRPr lang="zh-CN" altLang="en-US"/>
          </a:p>
        </p:txBody>
      </p:sp>
    </p:spTree>
    <p:extLst>
      <p:ext uri="{BB962C8B-B14F-4D97-AF65-F5344CB8AC3E}">
        <p14:creationId xmlns:p14="http://schemas.microsoft.com/office/powerpoint/2010/main" val="958743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2CF119F-80F1-42B7-9DE3-1BB75DF54A89}" type="slidenum">
              <a:rPr lang="zh-CN" altLang="en-US" smtClean="0"/>
              <a:t>30</a:t>
            </a:fld>
            <a:endParaRPr lang="zh-CN" altLang="en-US"/>
          </a:p>
        </p:txBody>
      </p:sp>
    </p:spTree>
    <p:extLst>
      <p:ext uri="{BB962C8B-B14F-4D97-AF65-F5344CB8AC3E}">
        <p14:creationId xmlns:p14="http://schemas.microsoft.com/office/powerpoint/2010/main" val="4271200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99904-4E3A-264D-9BCD-E9673B8CDFE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553254B-F260-B18D-12C6-91182EB74C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00C1C77-7F6E-D634-7BB5-56FE275D7B80}"/>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88E24145-9A35-7C47-12D7-C144EACCA5B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112E9E0-8E34-AFC6-A282-18D982A23498}"/>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2790421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CD13C7-01CA-AFE9-9FAB-751E2B13003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17D5AE3-0F06-1A91-2FD6-D8E2772C15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AF3292-D439-A427-B266-ABA535648EC7}"/>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BE0A9E20-B8E3-6B3C-BA30-48D5B48954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32A26A-CA9D-BC6B-B1F1-D9D8FF42E198}"/>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734609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BE951B-93DE-2851-DB73-FF144CEE20A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8BA83AA-9F5E-E17E-F41C-7C60B61612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053A1DA-C454-E720-6786-432E2697C262}"/>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B7C8B0DB-69DE-1AE1-8B0B-3F9E3C64ABC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110BA0-FC03-797E-6A21-8F6FD8B25F60}"/>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3726287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D1721A-70FE-227D-A5BF-F83DD9A8CC4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6CC965F-86AB-60F2-40F7-C18DED6F324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D457490-D20B-28B1-E9A1-1CBCA9BFA17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8C78BEE-1587-2571-FD9E-1A66926B3B6E}"/>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5CC5A383-6C8C-3FB7-C29C-0CCBF2F4555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641CEE9-00DA-2010-A0C7-340158434DDA}"/>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244798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943F7A-BA95-1C0A-E0E1-DB37D656442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F42AC3E-A922-BF4E-D4D6-4E56E5F53F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5FF6644-8728-4C18-CE47-F23AFA01D95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6997554-5BE5-E149-4E9C-C8FD42BC28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571D543-F177-4AA5-0BF8-4F446C5BA1E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68B4FBA-24F8-3066-90A9-B68F4E2EFE37}"/>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8" name="页脚占位符 7">
            <a:extLst>
              <a:ext uri="{FF2B5EF4-FFF2-40B4-BE49-F238E27FC236}">
                <a16:creationId xmlns:a16="http://schemas.microsoft.com/office/drawing/2014/main" id="{F52704B1-EB0B-2BAD-6AF3-86DEEA572A5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5631BE0-2DBD-3EB9-C2A9-76A3D7170A71}"/>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924886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6EA6CB-D839-B253-3D1A-99723271440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55D3785-BBE5-F1AE-7E2D-3E50C18ECDC1}"/>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4" name="页脚占位符 3">
            <a:extLst>
              <a:ext uri="{FF2B5EF4-FFF2-40B4-BE49-F238E27FC236}">
                <a16:creationId xmlns:a16="http://schemas.microsoft.com/office/drawing/2014/main" id="{6153D02A-460F-176A-0497-4F30CE60303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ED46AF5-EAAF-7034-CAE8-7EDD6F31BBF2}"/>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775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5735AD5-D6A1-D2CA-2CF3-C14F0BCE44D6}"/>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3" name="页脚占位符 2">
            <a:extLst>
              <a:ext uri="{FF2B5EF4-FFF2-40B4-BE49-F238E27FC236}">
                <a16:creationId xmlns:a16="http://schemas.microsoft.com/office/drawing/2014/main" id="{9B34E5B2-2BF2-2E67-C28E-3B5C20590D9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6F29344-F0EF-9E9F-0E9F-388532E6B9AE}"/>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380877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C3F5E6-C640-01BE-B9DC-23FFCC00EBA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4425E67-465F-430B-1A78-A3F00C022E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7BAACEF-E949-D163-9EDF-156869DF2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A136B04-A22E-1627-F273-3AEF28EF86BA}"/>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74A9CC58-92BE-C332-8766-2FE9AA32DE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0655369-2053-6918-5B72-8DB7483A0339}"/>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4006385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011E2F-E4C9-5DB2-37DA-AD5E89BD2FF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4DCD3CC-CBDE-4C09-EBD7-B66808AD3C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350F08A-71AF-B218-8E8E-EFA2398CFE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571D6C2-1626-261D-9B5A-2F48B0EAF8DB}"/>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E1C205B3-BC60-AD72-3C5E-82C7648267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855A528-2AEC-D14D-8442-490FCEB7E1E8}"/>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73284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00DD-B1AE-E933-8298-DE38935391F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76FE829-B450-DEB5-94AF-56C5FAC2310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C3B309-8066-2759-E183-C2C6BA28DF52}"/>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D6BEB2FD-0415-1C35-ABB5-0BA02F76BA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20C386-628F-619F-C058-739863CB5CB2}"/>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3206057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357E5D-923B-89AE-6842-8F3E240085F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CE63172-B886-2E8F-AE7A-CEB43C218FD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E96955F-AF50-632F-0AC9-C184A4E65E29}"/>
              </a:ext>
            </a:extLst>
          </p:cNvPr>
          <p:cNvSpPr>
            <a:spLocks noGrp="1"/>
          </p:cNvSpPr>
          <p:nvPr>
            <p:ph type="dt" sz="half" idx="10"/>
          </p:nvPr>
        </p:nvSpPr>
        <p:spPr/>
        <p:txBody>
          <a:bodyPr/>
          <a:lstStyle/>
          <a:p>
            <a:fld id="{EA4C90F3-F368-4248-800C-37288B784D55}"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023858C0-6B52-EBFB-F168-E1585ECB49C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52DF59-AB1D-DCDF-6D86-EF29C1150457}"/>
              </a:ext>
            </a:extLst>
          </p:cNvPr>
          <p:cNvSpPr>
            <a:spLocks noGrp="1"/>
          </p:cNvSpPr>
          <p:nvPr>
            <p:ph type="sldNum" sz="quarter" idx="12"/>
          </p:nvPr>
        </p:nvSpPr>
        <p:spPr/>
        <p:txBody>
          <a:body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259041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02FD662-9D6D-9CAC-C34D-C8BB7417E1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5002082-0608-1774-B65C-F2E2C0D338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445787-65A1-FB83-F340-7A7F27FEB7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4C90F3-F368-4248-800C-37288B784D55}"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B9E75DCC-CEA8-CCB0-F73C-1F4509984E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3B07F754-F500-DDAB-902E-8DE3A3E13E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2F8831-7B10-4AFC-BD9C-DC43E610317A}" type="slidenum">
              <a:rPr lang="zh-CN" altLang="en-US" smtClean="0"/>
              <a:t>‹#›</a:t>
            </a:fld>
            <a:endParaRPr lang="zh-CN" altLang="en-US"/>
          </a:p>
        </p:txBody>
      </p:sp>
    </p:spTree>
    <p:extLst>
      <p:ext uri="{BB962C8B-B14F-4D97-AF65-F5344CB8AC3E}">
        <p14:creationId xmlns:p14="http://schemas.microsoft.com/office/powerpoint/2010/main" val="2406327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ity And Traffic Lights">
            <a:extLst>
              <a:ext uri="{FF2B5EF4-FFF2-40B4-BE49-F238E27FC236}">
                <a16:creationId xmlns:a16="http://schemas.microsoft.com/office/drawing/2014/main" id="{098C4D77-0287-B7B1-AEEF-7BCE737368D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6250" b="6250"/>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3B944C50-635B-31B7-0A0C-4CCC2D9B77A2}"/>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zh-CN" altLang="en-US" sz="5200">
                <a:solidFill>
                  <a:srgbClr val="FFFFFF"/>
                </a:solidFill>
                <a:ea typeface="等线 Light"/>
              </a:rPr>
              <a:t>NYC Airport Delay Report</a:t>
            </a:r>
            <a:endParaRPr lang="zh-CN" altLang="en-US" sz="5200">
              <a:solidFill>
                <a:srgbClr val="FFFFFF"/>
              </a:solidFill>
            </a:endParaRPr>
          </a:p>
        </p:txBody>
      </p:sp>
      <p:sp>
        <p:nvSpPr>
          <p:cNvPr id="3" name="副标题 2">
            <a:extLst>
              <a:ext uri="{FF2B5EF4-FFF2-40B4-BE49-F238E27FC236}">
                <a16:creationId xmlns:a16="http://schemas.microsoft.com/office/drawing/2014/main" id="{7218EB32-0E58-E8C2-8C33-EA38EBCE7579}"/>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vert="horz" lIns="91440" tIns="45720" rIns="91440" bIns="45720" rtlCol="0">
            <a:normAutofit/>
          </a:bodyPr>
          <a:lstStyle/>
          <a:p>
            <a:r>
              <a:rPr lang="zh-CN" altLang="en-US">
                <a:solidFill>
                  <a:srgbClr val="FFFFFF"/>
                </a:solidFill>
                <a:ea typeface="等线"/>
              </a:rPr>
              <a:t>Yuerong Shu &amp; Ziqi Yan</a:t>
            </a:r>
            <a:endParaRPr lang="zh-CN" altLang="en-US">
              <a:solidFill>
                <a:srgbClr val="FFFFFF"/>
              </a:solidFill>
            </a:endParaRPr>
          </a:p>
        </p:txBody>
      </p:sp>
    </p:spTree>
    <p:extLst>
      <p:ext uri="{BB962C8B-B14F-4D97-AF65-F5344CB8AC3E}">
        <p14:creationId xmlns:p14="http://schemas.microsoft.com/office/powerpoint/2010/main" val="3665964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FACD6BEE-B4E9-2905-5B45-28A63876B1EE}"/>
              </a:ext>
            </a:extLst>
          </p:cNvPr>
          <p:cNvSpPr>
            <a:spLocks noGrp="1"/>
          </p:cNvSpPr>
          <p:nvPr>
            <p:ph type="title"/>
          </p:nvPr>
        </p:nvSpPr>
        <p:spPr>
          <a:xfrm>
            <a:off x="1217197" y="469037"/>
            <a:ext cx="9325141" cy="2228760"/>
          </a:xfrm>
        </p:spPr>
        <p:txBody>
          <a:bodyPr anchor="b">
            <a:normAutofit/>
          </a:bodyPr>
          <a:lstStyle/>
          <a:p>
            <a:r>
              <a:rPr lang="en-US" altLang="zh-CN" sz="4800">
                <a:ea typeface="等线 Light"/>
              </a:rPr>
              <a:t>Background and Research Question</a:t>
            </a:r>
            <a:endParaRPr lang="zh-CN" altLang="en-US" sz="4800">
              <a:ea typeface="等线 Light"/>
            </a:endParaRPr>
          </a:p>
        </p:txBody>
      </p:sp>
      <p:pic>
        <p:nvPicPr>
          <p:cNvPr id="22" name="Graphic 21" descr="Airplane">
            <a:extLst>
              <a:ext uri="{FF2B5EF4-FFF2-40B4-BE49-F238E27FC236}">
                <a16:creationId xmlns:a16="http://schemas.microsoft.com/office/drawing/2014/main" id="{09CB49A8-4C67-00D0-06F0-56E2474BA8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内容占位符 2">
            <a:extLst>
              <a:ext uri="{FF2B5EF4-FFF2-40B4-BE49-F238E27FC236}">
                <a16:creationId xmlns:a16="http://schemas.microsoft.com/office/drawing/2014/main" id="{228E9BCB-500E-E948-5301-671998B369E1}"/>
              </a:ext>
            </a:extLst>
          </p:cNvPr>
          <p:cNvSpPr>
            <a:spLocks noGrp="1"/>
          </p:cNvSpPr>
          <p:nvPr>
            <p:ph idx="1"/>
          </p:nvPr>
        </p:nvSpPr>
        <p:spPr>
          <a:xfrm>
            <a:off x="931255" y="4137528"/>
            <a:ext cx="10510838" cy="2057045"/>
          </a:xfrm>
        </p:spPr>
        <p:txBody>
          <a:bodyPr vert="horz" lIns="91440" tIns="45720" rIns="91440" bIns="45720" rtlCol="0" anchor="t">
            <a:normAutofit/>
          </a:bodyPr>
          <a:lstStyle/>
          <a:p>
            <a:pPr marL="0" indent="0">
              <a:buNone/>
            </a:pPr>
            <a:r>
              <a:rPr lang="en-US" sz="4000">
                <a:ea typeface="+mn-lt"/>
                <a:cs typeface="+mn-lt"/>
              </a:rPr>
              <a:t>What operational factors best explain departure delay in NYC flights?</a:t>
            </a:r>
            <a:endParaRPr lang="zh-CN" sz="4000">
              <a:ea typeface="+mn-lt"/>
              <a:cs typeface="+mn-lt"/>
            </a:endParaRPr>
          </a:p>
          <a:p>
            <a:endParaRPr lang="zh-CN" altLang="en-US" sz="2000"/>
          </a:p>
        </p:txBody>
      </p:sp>
      <p:pic>
        <p:nvPicPr>
          <p:cNvPr id="24" name="Graphic 23" descr="Airplane">
            <a:extLst>
              <a:ext uri="{FF2B5EF4-FFF2-40B4-BE49-F238E27FC236}">
                <a16:creationId xmlns:a16="http://schemas.microsoft.com/office/drawing/2014/main" id="{A1E36095-C038-4449-81BF-932673C049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31700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CA3C3D53-0A8F-BB02-DEA5-28BDD7ED5053}"/>
              </a:ext>
            </a:extLst>
          </p:cNvPr>
          <p:cNvSpPr>
            <a:spLocks noGrp="1"/>
          </p:cNvSpPr>
          <p:nvPr>
            <p:ph type="title"/>
          </p:nvPr>
        </p:nvSpPr>
        <p:spPr>
          <a:xfrm>
            <a:off x="761800" y="523876"/>
            <a:ext cx="5334197" cy="1708242"/>
          </a:xfrm>
        </p:spPr>
        <p:txBody>
          <a:bodyPr anchor="ctr">
            <a:normAutofit/>
          </a:bodyPr>
          <a:lstStyle/>
          <a:p>
            <a:r>
              <a:rPr lang="zh-CN" altLang="en-US" sz="4000">
                <a:ea typeface="等线 Light"/>
              </a:rPr>
              <a:t>Initial Data Overview</a:t>
            </a:r>
            <a:endParaRPr lang="zh-CN" altLang="en-US" sz="4000"/>
          </a:p>
        </p:txBody>
      </p:sp>
      <p:sp>
        <p:nvSpPr>
          <p:cNvPr id="19" name="内容占位符 2">
            <a:extLst>
              <a:ext uri="{FF2B5EF4-FFF2-40B4-BE49-F238E27FC236}">
                <a16:creationId xmlns:a16="http://schemas.microsoft.com/office/drawing/2014/main" id="{C9C6F718-D74C-FD8E-FDC7-A2FF17F04E79}"/>
              </a:ext>
            </a:extLst>
          </p:cNvPr>
          <p:cNvSpPr>
            <a:spLocks noGrp="1"/>
          </p:cNvSpPr>
          <p:nvPr>
            <p:ph idx="1"/>
          </p:nvPr>
        </p:nvSpPr>
        <p:spPr>
          <a:xfrm>
            <a:off x="303410" y="2232119"/>
            <a:ext cx="6250977" cy="3769835"/>
          </a:xfrm>
        </p:spPr>
        <p:txBody>
          <a:bodyPr vert="horz" lIns="91440" tIns="45720" rIns="91440" bIns="45720" rtlCol="0" anchor="ctr">
            <a:normAutofit/>
          </a:bodyPr>
          <a:lstStyle/>
          <a:p>
            <a:r>
              <a:rPr lang="zh-CN" sz="2000">
                <a:ea typeface="+mn-lt"/>
                <a:cs typeface="+mn-lt"/>
              </a:rPr>
              <a:t>This study uses the </a:t>
            </a:r>
            <a:r>
              <a:rPr lang="zh-CN" sz="2000" b="1">
                <a:ea typeface="+mn-lt"/>
                <a:cs typeface="+mn-lt"/>
              </a:rPr>
              <a:t>NYC Flights dataset (2023)</a:t>
            </a:r>
            <a:r>
              <a:rPr lang="zh-CN" sz="2000">
                <a:ea typeface="+mn-lt"/>
                <a:cs typeface="+mn-lt"/>
              </a:rPr>
              <a:t> from the </a:t>
            </a:r>
            <a:r>
              <a:rPr lang="zh-CN" sz="2000">
                <a:latin typeface="Consolas"/>
                <a:ea typeface="等线"/>
              </a:rPr>
              <a:t>nycflights23</a:t>
            </a:r>
            <a:r>
              <a:rPr lang="zh-CN" sz="2000">
                <a:ea typeface="+mn-lt"/>
                <a:cs typeface="+mn-lt"/>
              </a:rPr>
              <a:t> package. The dataset contains detailed information on domestic flights departing from 3</a:t>
            </a:r>
            <a:r>
              <a:rPr lang="zh-CN" altLang="en-US" sz="2000">
                <a:ea typeface="+mn-lt"/>
                <a:cs typeface="+mn-lt"/>
              </a:rPr>
              <a:t> </a:t>
            </a:r>
            <a:r>
              <a:rPr lang="zh-CN" sz="2000">
                <a:ea typeface="+mn-lt"/>
                <a:cs typeface="+mn-lt"/>
              </a:rPr>
              <a:t>New York City airports, including flight timing, delays, carrier information, aircraft characteristics, and weather conditions.</a:t>
            </a:r>
            <a:endParaRPr lang="zh-CN" altLang="en-US" sz="2000"/>
          </a:p>
          <a:p>
            <a:r>
              <a:rPr lang="en-US" altLang="zh-CN" sz="2000">
                <a:ea typeface="+mn-lt"/>
                <a:cs typeface="+mn-lt"/>
              </a:rPr>
              <a:t>Our</a:t>
            </a:r>
            <a:r>
              <a:rPr lang="zh-CN" sz="2000">
                <a:ea typeface="+mn-lt"/>
                <a:cs typeface="+mn-lt"/>
              </a:rPr>
              <a:t> goal is to analyze factors that influence the probability of </a:t>
            </a:r>
            <a:r>
              <a:rPr lang="zh-CN" sz="2000" b="1">
                <a:ea typeface="+mn-lt"/>
                <a:cs typeface="+mn-lt"/>
              </a:rPr>
              <a:t>departure delay (greater than 15 minutes)</a:t>
            </a:r>
            <a:r>
              <a:rPr lang="en-US" altLang="zh-CN" sz="2000" b="1">
                <a:ea typeface="+mn-lt"/>
                <a:cs typeface="+mn-lt"/>
              </a:rPr>
              <a:t>,</a:t>
            </a:r>
            <a:r>
              <a:rPr lang="zh-CN" altLang="en-US" sz="2000" b="1">
                <a:ea typeface="+mn-lt"/>
                <a:cs typeface="+mn-lt"/>
              </a:rPr>
              <a:t> </a:t>
            </a:r>
            <a:r>
              <a:rPr lang="zh-CN" altLang="en-US" sz="2000">
                <a:ea typeface="+mn-lt"/>
                <a:cs typeface="+mn-lt"/>
              </a:rPr>
              <a:t>accordin</a:t>
            </a:r>
            <a:r>
              <a:rPr lang="en-US" altLang="zh-CN" sz="2000">
                <a:ea typeface="+mn-lt"/>
                <a:cs typeface="+mn-lt"/>
              </a:rPr>
              <a:t>g</a:t>
            </a:r>
            <a:r>
              <a:rPr lang="zh-CN" altLang="en-US" sz="2000">
                <a:ea typeface="+mn-lt"/>
                <a:cs typeface="+mn-lt"/>
              </a:rPr>
              <a:t> </a:t>
            </a:r>
            <a:r>
              <a:rPr lang="en-US" altLang="en-US" sz="2000">
                <a:ea typeface="+mn-lt"/>
                <a:cs typeface="+mn-lt"/>
              </a:rPr>
              <a:t>to</a:t>
            </a:r>
            <a:r>
              <a:rPr lang="zh-CN" altLang="en-US" sz="2000">
                <a:ea typeface="+mn-lt"/>
                <a:cs typeface="+mn-lt"/>
              </a:rPr>
              <a:t> </a:t>
            </a:r>
            <a:r>
              <a:rPr lang="en-US" altLang="en-US" sz="2000">
                <a:ea typeface="+mn-lt"/>
                <a:cs typeface="+mn-lt"/>
              </a:rPr>
              <a:t>U.S. Department of Transportation</a:t>
            </a:r>
            <a:r>
              <a:rPr lang="en-US" altLang="zh-CN" sz="2000">
                <a:ea typeface="+mn-lt"/>
                <a:cs typeface="+mn-lt"/>
              </a:rPr>
              <a:t>.</a:t>
            </a:r>
            <a:endParaRPr lang="zh-CN" altLang="en-US" sz="2000"/>
          </a:p>
          <a:p>
            <a:r>
              <a:rPr lang="en-US" altLang="zh-CN" sz="2000">
                <a:ea typeface="等线"/>
              </a:rPr>
              <a:t>Used datasets: flights, weather, planes</a:t>
            </a:r>
          </a:p>
          <a:p>
            <a:endParaRPr lang="zh-CN" altLang="en-US" sz="2000">
              <a:ea typeface="等线"/>
            </a:endParaRPr>
          </a:p>
        </p:txBody>
      </p:sp>
      <p:pic>
        <p:nvPicPr>
          <p:cNvPr id="20" name="Picture 4" descr="机场里的飞机">
            <a:extLst>
              <a:ext uri="{FF2B5EF4-FFF2-40B4-BE49-F238E27FC236}">
                <a16:creationId xmlns:a16="http://schemas.microsoft.com/office/drawing/2014/main" id="{C5FB1F5D-D065-D244-BEA3-10AFDFC7E7A0}"/>
              </a:ext>
            </a:extLst>
          </p:cNvPr>
          <p:cNvPicPr>
            <a:picLocks noChangeAspect="1"/>
          </p:cNvPicPr>
          <p:nvPr/>
        </p:nvPicPr>
        <p:blipFill>
          <a:blip r:embed="rId2"/>
          <a:srcRect l="33580" r="12349" b="2"/>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45538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699D24-07A3-89D9-0EBD-C1910E3770FC}"/>
              </a:ext>
            </a:extLst>
          </p:cNvPr>
          <p:cNvSpPr>
            <a:spLocks noGrp="1"/>
          </p:cNvSpPr>
          <p:nvPr>
            <p:ph type="title"/>
          </p:nvPr>
        </p:nvSpPr>
        <p:spPr>
          <a:xfrm>
            <a:off x="761800" y="273588"/>
            <a:ext cx="5334197" cy="1708242"/>
          </a:xfrm>
        </p:spPr>
        <p:txBody>
          <a:bodyPr anchor="ctr">
            <a:normAutofit/>
          </a:bodyPr>
          <a:lstStyle/>
          <a:p>
            <a:r>
              <a:rPr lang="en-US" sz="4000">
                <a:ea typeface="等线 Light"/>
              </a:rPr>
              <a:t>Why Choosing This Dataset?</a:t>
            </a:r>
            <a:endParaRPr lang="en-US" sz="4000"/>
          </a:p>
        </p:txBody>
      </p:sp>
      <p:sp>
        <p:nvSpPr>
          <p:cNvPr id="3" name="Content Placeholder 2">
            <a:extLst>
              <a:ext uri="{FF2B5EF4-FFF2-40B4-BE49-F238E27FC236}">
                <a16:creationId xmlns:a16="http://schemas.microsoft.com/office/drawing/2014/main" id="{8B209683-A0DC-60B0-7743-E9434F0E2F9A}"/>
              </a:ext>
            </a:extLst>
          </p:cNvPr>
          <p:cNvSpPr>
            <a:spLocks noGrp="1"/>
          </p:cNvSpPr>
          <p:nvPr>
            <p:ph idx="1"/>
          </p:nvPr>
        </p:nvSpPr>
        <p:spPr>
          <a:xfrm>
            <a:off x="368510" y="2199857"/>
            <a:ext cx="6088003" cy="4040222"/>
          </a:xfrm>
        </p:spPr>
        <p:txBody>
          <a:bodyPr vert="horz" lIns="91440" tIns="45720" rIns="91440" bIns="45720" rtlCol="0" anchor="ctr">
            <a:normAutofit lnSpcReduction="10000"/>
          </a:bodyPr>
          <a:lstStyle/>
          <a:p>
            <a:r>
              <a:rPr lang="en-US" sz="2000">
                <a:ea typeface="+mn-lt"/>
                <a:cs typeface="+mn-lt"/>
              </a:rPr>
              <a:t>T</a:t>
            </a:r>
            <a:r>
              <a:rPr lang="en-US" sz="2400">
                <a:ea typeface="+mn-lt"/>
                <a:cs typeface="+mn-lt"/>
              </a:rPr>
              <a:t>he data were collected throughout 2023 on a daily and flight-by-flight basis from publicly available aviation reporting systems and flight tracking sources. These records typically originate from airline operational reporting, airport systems, and federal transportation databases that monitor schedules, actual departure and arrival times, delays, cancellations, and route information.</a:t>
            </a:r>
          </a:p>
          <a:p>
            <a:r>
              <a:rPr lang="en-US" sz="2400">
                <a:ea typeface="+mn-lt"/>
                <a:cs typeface="+mn-lt"/>
              </a:rPr>
              <a:t>Since the data come from real-world airline operations, they provide a valuable snapshot of transportation performance</a:t>
            </a:r>
            <a:endParaRPr lang="en-US" sz="2400">
              <a:ea typeface="等线"/>
            </a:endParaRPr>
          </a:p>
          <a:p>
            <a:endParaRPr lang="en-US" sz="2000">
              <a:ea typeface="等线"/>
            </a:endParaRPr>
          </a:p>
        </p:txBody>
      </p:sp>
      <p:pic>
        <p:nvPicPr>
          <p:cNvPr id="5" name="Picture 4" descr="Back view of an airplane">
            <a:extLst>
              <a:ext uri="{FF2B5EF4-FFF2-40B4-BE49-F238E27FC236}">
                <a16:creationId xmlns:a16="http://schemas.microsoft.com/office/drawing/2014/main" id="{BAEE68A6-7954-41D9-38AF-5EADD358F9AE}"/>
              </a:ext>
            </a:extLst>
          </p:cNvPr>
          <p:cNvPicPr>
            <a:picLocks noChangeAspect="1"/>
          </p:cNvPicPr>
          <p:nvPr/>
        </p:nvPicPr>
        <p:blipFill>
          <a:blip r:embed="rId2"/>
          <a:srcRect l="18435" r="29804"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658819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4C60FF96-6222-4CFE-9CE3-2E30DE18A21C}"/>
              </a:ext>
            </a:extLst>
          </p:cNvPr>
          <p:cNvSpPr>
            <a:spLocks noGrp="1"/>
          </p:cNvSpPr>
          <p:nvPr>
            <p:ph type="title"/>
          </p:nvPr>
        </p:nvSpPr>
        <p:spPr>
          <a:xfrm>
            <a:off x="1371597" y="348865"/>
            <a:ext cx="10044023" cy="877729"/>
          </a:xfrm>
        </p:spPr>
        <p:txBody>
          <a:bodyPr anchor="ctr">
            <a:normAutofit/>
          </a:bodyPr>
          <a:lstStyle/>
          <a:p>
            <a:r>
              <a:rPr lang="en-US" altLang="zh-CN" sz="4000">
                <a:solidFill>
                  <a:srgbClr val="FFFFFF"/>
                </a:solidFill>
                <a:ea typeface="等线 Light"/>
              </a:rPr>
              <a:t>Advantage of Using This Dataset:</a:t>
            </a:r>
            <a:endParaRPr lang="zh-CN" altLang="en-US" sz="4000">
              <a:solidFill>
                <a:srgbClr val="FFFFFF"/>
              </a:solidFill>
            </a:endParaRPr>
          </a:p>
        </p:txBody>
      </p:sp>
      <p:sp>
        <p:nvSpPr>
          <p:cNvPr id="403" name="Content Placeholder 402">
            <a:extLst>
              <a:ext uri="{FF2B5EF4-FFF2-40B4-BE49-F238E27FC236}">
                <a16:creationId xmlns:a16="http://schemas.microsoft.com/office/drawing/2014/main" id="{5F82ECF4-05DC-6766-44D9-8F9C8E67A729}"/>
              </a:ext>
            </a:extLst>
          </p:cNvPr>
          <p:cNvSpPr>
            <a:spLocks noGrp="1"/>
          </p:cNvSpPr>
          <p:nvPr>
            <p:ph idx="1"/>
          </p:nvPr>
        </p:nvSpPr>
        <p:spPr>
          <a:xfrm>
            <a:off x="838200" y="1825625"/>
            <a:ext cx="10551318" cy="4887119"/>
          </a:xfrm>
        </p:spPr>
        <p:txBody>
          <a:bodyPr vert="horz" lIns="91440" tIns="45720" rIns="91440" bIns="45720" rtlCol="0" anchor="t">
            <a:normAutofit/>
          </a:bodyPr>
          <a:lstStyle/>
          <a:p>
            <a:pPr>
              <a:lnSpc>
                <a:spcPct val="100000"/>
              </a:lnSpc>
              <a:spcBef>
                <a:spcPts val="0"/>
              </a:spcBef>
            </a:pPr>
            <a:r>
              <a:rPr lang="en-US">
                <a:solidFill>
                  <a:srgbClr val="444444"/>
                </a:solidFill>
                <a:latin typeface="Calibri"/>
                <a:ea typeface="Calibri"/>
                <a:cs typeface="Calibri"/>
              </a:rPr>
              <a:t>The dataset includes:</a:t>
            </a:r>
            <a:endParaRPr lang="en-US"/>
          </a:p>
          <a:p>
            <a:pPr marL="0" indent="0">
              <a:lnSpc>
                <a:spcPct val="100000"/>
              </a:lnSpc>
              <a:spcBef>
                <a:spcPts val="0"/>
              </a:spcBef>
              <a:buNone/>
            </a:pPr>
            <a:endParaRPr lang="en-US">
              <a:solidFill>
                <a:srgbClr val="444444"/>
              </a:solidFill>
              <a:latin typeface="Calibri"/>
              <a:ea typeface="Calibri"/>
              <a:cs typeface="Calibri"/>
            </a:endParaRPr>
          </a:p>
          <a:p>
            <a:pPr marL="0" indent="0">
              <a:lnSpc>
                <a:spcPct val="100000"/>
              </a:lnSpc>
              <a:spcBef>
                <a:spcPts val="0"/>
              </a:spcBef>
              <a:buNone/>
            </a:pPr>
            <a:r>
              <a:rPr lang="en-US" b="1">
                <a:solidFill>
                  <a:srgbClr val="444444"/>
                </a:solidFill>
                <a:latin typeface="Calibri"/>
                <a:ea typeface="Calibri"/>
                <a:cs typeface="Calibri"/>
              </a:rPr>
              <a:t>continuous predictors:</a:t>
            </a:r>
            <a:r>
              <a:rPr lang="en-US">
                <a:solidFill>
                  <a:srgbClr val="444444"/>
                </a:solidFill>
                <a:latin typeface="Calibri"/>
                <a:ea typeface="Calibri"/>
                <a:cs typeface="Calibri"/>
              </a:rPr>
              <a:t> departure delay, distance, temperature </a:t>
            </a:r>
            <a:r>
              <a:rPr lang="en-US" err="1">
                <a:solidFill>
                  <a:srgbClr val="444444"/>
                </a:solidFill>
                <a:latin typeface="Calibri"/>
                <a:ea typeface="Calibri"/>
                <a:cs typeface="Calibri"/>
              </a:rPr>
              <a:t>etc</a:t>
            </a:r>
            <a:endParaRPr lang="en-US">
              <a:solidFill>
                <a:srgbClr val="444444"/>
              </a:solidFill>
              <a:latin typeface="Calibri"/>
              <a:ea typeface="Calibri"/>
              <a:cs typeface="Calibri"/>
            </a:endParaRPr>
          </a:p>
          <a:p>
            <a:pPr marL="0" indent="0">
              <a:lnSpc>
                <a:spcPct val="100000"/>
              </a:lnSpc>
              <a:spcBef>
                <a:spcPts val="0"/>
              </a:spcBef>
              <a:buNone/>
            </a:pPr>
            <a:r>
              <a:rPr lang="en-US">
                <a:solidFill>
                  <a:srgbClr val="444444"/>
                </a:solidFill>
                <a:latin typeface="Calibri"/>
                <a:ea typeface="Calibri"/>
                <a:cs typeface="Calibri"/>
              </a:rPr>
              <a:t>*capture numerical variation in flight timing and weather conditions</a:t>
            </a:r>
            <a:endParaRPr lang="en-US">
              <a:solidFill>
                <a:srgbClr val="000000"/>
              </a:solidFill>
              <a:latin typeface="等线" panose="02110004020202020204"/>
              <a:ea typeface="等线" panose="02110004020202020204"/>
              <a:cs typeface="Calibri"/>
            </a:endParaRPr>
          </a:p>
          <a:p>
            <a:pPr marL="0" indent="0">
              <a:lnSpc>
                <a:spcPct val="100000"/>
              </a:lnSpc>
              <a:spcBef>
                <a:spcPts val="0"/>
              </a:spcBef>
              <a:buNone/>
            </a:pPr>
            <a:endParaRPr lang="en-US">
              <a:solidFill>
                <a:srgbClr val="444444"/>
              </a:solidFill>
              <a:latin typeface="Calibri"/>
              <a:ea typeface="Calibri"/>
              <a:cs typeface="Calibri"/>
            </a:endParaRPr>
          </a:p>
          <a:p>
            <a:pPr marL="0" indent="0">
              <a:lnSpc>
                <a:spcPct val="100000"/>
              </a:lnSpc>
              <a:spcBef>
                <a:spcPts val="0"/>
              </a:spcBef>
              <a:buNone/>
            </a:pPr>
            <a:r>
              <a:rPr lang="en-US" b="1">
                <a:solidFill>
                  <a:srgbClr val="444444"/>
                </a:solidFill>
                <a:latin typeface="Calibri"/>
                <a:ea typeface="Calibri"/>
                <a:cs typeface="Calibri"/>
              </a:rPr>
              <a:t>categorical predictors:</a:t>
            </a:r>
            <a:r>
              <a:rPr lang="en-US">
                <a:solidFill>
                  <a:srgbClr val="444444"/>
                </a:solidFill>
                <a:latin typeface="Calibri"/>
                <a:ea typeface="Calibri"/>
                <a:cs typeface="Calibri"/>
              </a:rPr>
              <a:t> airline carrier, origin airport </a:t>
            </a:r>
            <a:r>
              <a:rPr lang="en-US" err="1">
                <a:solidFill>
                  <a:srgbClr val="444444"/>
                </a:solidFill>
                <a:latin typeface="Calibri"/>
                <a:ea typeface="Calibri"/>
                <a:cs typeface="Calibri"/>
              </a:rPr>
              <a:t>etc</a:t>
            </a:r>
            <a:endParaRPr lang="en-US" err="1">
              <a:solidFill>
                <a:srgbClr val="000000"/>
              </a:solidFill>
              <a:latin typeface="等线" panose="02110004020202020204"/>
              <a:ea typeface="等线" panose="02110004020202020204"/>
              <a:cs typeface="Calibri"/>
            </a:endParaRPr>
          </a:p>
          <a:p>
            <a:pPr marL="0" indent="0">
              <a:lnSpc>
                <a:spcPct val="100000"/>
              </a:lnSpc>
              <a:spcBef>
                <a:spcPts val="0"/>
              </a:spcBef>
              <a:buNone/>
            </a:pPr>
            <a:r>
              <a:rPr lang="en-US">
                <a:solidFill>
                  <a:srgbClr val="444444"/>
                </a:solidFill>
                <a:latin typeface="Calibri"/>
                <a:ea typeface="Calibri"/>
                <a:cs typeface="Calibri"/>
              </a:rPr>
              <a:t>*represent structural and operational differences between flights.</a:t>
            </a:r>
            <a:endParaRPr lang="en-US">
              <a:ea typeface="等线" panose="02110004020202020204"/>
            </a:endParaRPr>
          </a:p>
          <a:p>
            <a:pPr marL="0" indent="0">
              <a:lnSpc>
                <a:spcPct val="100000"/>
              </a:lnSpc>
              <a:spcBef>
                <a:spcPts val="0"/>
              </a:spcBef>
              <a:buNone/>
            </a:pPr>
            <a:endParaRPr lang="en-US">
              <a:solidFill>
                <a:srgbClr val="444444"/>
              </a:solidFill>
              <a:latin typeface="Calibri"/>
              <a:ea typeface="Calibri"/>
              <a:cs typeface="Calibri"/>
            </a:endParaRPr>
          </a:p>
          <a:p>
            <a:pPr>
              <a:lnSpc>
                <a:spcPct val="100000"/>
              </a:lnSpc>
              <a:spcBef>
                <a:spcPts val="0"/>
              </a:spcBef>
            </a:pPr>
            <a:r>
              <a:rPr lang="en-US">
                <a:solidFill>
                  <a:srgbClr val="444444"/>
                </a:solidFill>
                <a:latin typeface="Calibri"/>
                <a:ea typeface="Calibri"/>
                <a:cs typeface="Calibri"/>
              </a:rPr>
              <a:t>The measurement time is relatively close to the present and little missing values</a:t>
            </a:r>
          </a:p>
          <a:p>
            <a:pPr marL="0" indent="0">
              <a:buNone/>
            </a:pPr>
            <a:endParaRPr lang="en-US">
              <a:ea typeface="等线"/>
            </a:endParaRPr>
          </a:p>
        </p:txBody>
      </p:sp>
    </p:spTree>
    <p:extLst>
      <p:ext uri="{BB962C8B-B14F-4D97-AF65-F5344CB8AC3E}">
        <p14:creationId xmlns:p14="http://schemas.microsoft.com/office/powerpoint/2010/main" val="4115992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4" name="Rectangle 2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EE23BB63-4B94-B31E-7C10-7968C3564EB5}"/>
              </a:ext>
            </a:extLst>
          </p:cNvPr>
          <p:cNvSpPr>
            <a:spLocks noGrp="1"/>
          </p:cNvSpPr>
          <p:nvPr>
            <p:ph type="title"/>
          </p:nvPr>
        </p:nvSpPr>
        <p:spPr>
          <a:xfrm>
            <a:off x="761803" y="350196"/>
            <a:ext cx="4646904" cy="1624520"/>
          </a:xfrm>
        </p:spPr>
        <p:txBody>
          <a:bodyPr anchor="ctr">
            <a:normAutofit/>
          </a:bodyPr>
          <a:lstStyle/>
          <a:p>
            <a:r>
              <a:rPr lang="en-US" altLang="zh-CN" sz="4000"/>
              <a:t>Overall Summary</a:t>
            </a:r>
            <a:endParaRPr lang="zh-CN" altLang="en-US" sz="4000"/>
          </a:p>
        </p:txBody>
      </p:sp>
      <p:sp>
        <p:nvSpPr>
          <p:cNvPr id="3" name="内容占位符 2">
            <a:extLst>
              <a:ext uri="{FF2B5EF4-FFF2-40B4-BE49-F238E27FC236}">
                <a16:creationId xmlns:a16="http://schemas.microsoft.com/office/drawing/2014/main" id="{707004BA-B67A-2CA0-1F8F-EA2596CFBA5C}"/>
              </a:ext>
            </a:extLst>
          </p:cNvPr>
          <p:cNvSpPr>
            <a:spLocks noGrp="1"/>
          </p:cNvSpPr>
          <p:nvPr>
            <p:ph idx="1"/>
          </p:nvPr>
        </p:nvSpPr>
        <p:spPr>
          <a:xfrm>
            <a:off x="237415" y="2743200"/>
            <a:ext cx="5818582" cy="3613149"/>
          </a:xfrm>
        </p:spPr>
        <p:txBody>
          <a:bodyPr anchor="ctr">
            <a:normAutofit/>
          </a:bodyPr>
          <a:lstStyle/>
          <a:p>
            <a:r>
              <a:rPr lang="en-US" sz="2400">
                <a:ea typeface="+mn-lt"/>
                <a:cs typeface="+mn-lt"/>
              </a:rPr>
              <a:t>Overall, the dataset is well-suited for logistic regression modeling. It contains a rich combination of operational, environmental, and structural (aircraft) variables that allow for a comprehensive analysis of factors influencing flight departure delays.</a:t>
            </a:r>
            <a:endParaRPr lang="zh-CN" sz="2400">
              <a:ea typeface="+mn-lt"/>
              <a:cs typeface="+mn-lt"/>
            </a:endParaRPr>
          </a:p>
        </p:txBody>
      </p:sp>
      <p:pic>
        <p:nvPicPr>
          <p:cNvPr id="18" name="Picture 17" descr="Plane on tarmac">
            <a:extLst>
              <a:ext uri="{FF2B5EF4-FFF2-40B4-BE49-F238E27FC236}">
                <a16:creationId xmlns:a16="http://schemas.microsoft.com/office/drawing/2014/main" id="{590055E3-4656-B6EF-E41E-A216381345AF}"/>
              </a:ext>
            </a:extLst>
          </p:cNvPr>
          <p:cNvPicPr>
            <a:picLocks noChangeAspect="1"/>
          </p:cNvPicPr>
          <p:nvPr/>
        </p:nvPicPr>
        <p:blipFill>
          <a:blip r:embed="rId2"/>
          <a:srcRect l="32575" r="8112" b="-3"/>
          <a:stretch>
            <a:fillRect/>
          </a:stretch>
        </p:blipFill>
        <p:spPr>
          <a:xfrm>
            <a:off x="6096000" y="1"/>
            <a:ext cx="6102825" cy="6858000"/>
          </a:xfrm>
          <a:prstGeom prst="rect">
            <a:avLst/>
          </a:prstGeom>
        </p:spPr>
      </p:pic>
    </p:spTree>
    <p:extLst>
      <p:ext uri="{BB962C8B-B14F-4D97-AF65-F5344CB8AC3E}">
        <p14:creationId xmlns:p14="http://schemas.microsoft.com/office/powerpoint/2010/main" val="2759381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ED5BF-71D2-5D0A-575A-5D5F37BE9466}"/>
              </a:ext>
            </a:extLst>
          </p:cNvPr>
          <p:cNvSpPr>
            <a:spLocks noGrp="1"/>
          </p:cNvSpPr>
          <p:nvPr>
            <p:ph type="title"/>
          </p:nvPr>
        </p:nvSpPr>
        <p:spPr>
          <a:xfrm>
            <a:off x="2187363" y="1671569"/>
            <a:ext cx="5801917" cy="2228760"/>
          </a:xfrm>
        </p:spPr>
        <p:txBody>
          <a:bodyPr anchor="b">
            <a:normAutofit/>
          </a:bodyPr>
          <a:lstStyle/>
          <a:p>
            <a:r>
              <a:rPr lang="en-US" sz="4000">
                <a:ea typeface="等线 Light"/>
              </a:rPr>
              <a:t>Data Processing and EDA</a:t>
            </a:r>
            <a:endParaRPr lang="en-US" sz="4000"/>
          </a:p>
        </p:txBody>
      </p:sp>
      <p:pic>
        <p:nvPicPr>
          <p:cNvPr id="7" name="Graphic 6" descr="Sync">
            <a:extLst>
              <a:ext uri="{FF2B5EF4-FFF2-40B4-BE49-F238E27FC236}">
                <a16:creationId xmlns:a16="http://schemas.microsoft.com/office/drawing/2014/main" id="{10AE58C6-1214-5B45-B6CA-B6C6EB5AAA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E513312F-00CF-151D-BB1D-0489F61D4360}"/>
              </a:ext>
            </a:extLst>
          </p:cNvPr>
          <p:cNvSpPr>
            <a:spLocks noGrp="1"/>
          </p:cNvSpPr>
          <p:nvPr>
            <p:ph idx="1"/>
          </p:nvPr>
        </p:nvSpPr>
        <p:spPr>
          <a:xfrm>
            <a:off x="2187364" y="4072044"/>
            <a:ext cx="5801917" cy="2057045"/>
          </a:xfrm>
        </p:spPr>
        <p:txBody>
          <a:bodyPr>
            <a:normAutofit/>
          </a:bodyPr>
          <a:lstStyle/>
          <a:p>
            <a:endParaRPr lang="en-US" sz="2000"/>
          </a:p>
        </p:txBody>
      </p:sp>
      <p:pic>
        <p:nvPicPr>
          <p:cNvPr id="9" name="Graphic 8" descr="Sync">
            <a:extLst>
              <a:ext uri="{FF2B5EF4-FFF2-40B4-BE49-F238E27FC236}">
                <a16:creationId xmlns:a16="http://schemas.microsoft.com/office/drawing/2014/main" id="{160C2757-F5EE-4519-BF2C-814384AA847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134740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B7DB-8A33-80E7-26DE-B0924A58CA8D}"/>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a:t>Missing Value in Dataset?</a:t>
            </a:r>
          </a:p>
        </p:txBody>
      </p:sp>
      <p:cxnSp>
        <p:nvCxnSpPr>
          <p:cNvPr id="10" name="Straight Connector 9">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F4F084A-AA1B-57C7-1925-3E73731222A2}"/>
              </a:ext>
            </a:extLst>
          </p:cNvPr>
          <p:cNvSpPr txBox="1"/>
          <p:nvPr/>
        </p:nvSpPr>
        <p:spPr>
          <a:xfrm>
            <a:off x="360516" y="1802581"/>
            <a:ext cx="11667612" cy="25236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5" name="Content Placeholder 14">
            <a:extLst>
              <a:ext uri="{FF2B5EF4-FFF2-40B4-BE49-F238E27FC236}">
                <a16:creationId xmlns:a16="http://schemas.microsoft.com/office/drawing/2014/main" id="{08EB69EC-799E-9B9B-ABB5-D86ABA581119}"/>
              </a:ext>
            </a:extLst>
          </p:cNvPr>
          <p:cNvSpPr>
            <a:spLocks noGrp="1"/>
          </p:cNvSpPr>
          <p:nvPr>
            <p:ph idx="1"/>
          </p:nvPr>
        </p:nvSpPr>
        <p:spPr>
          <a:xfrm>
            <a:off x="838200" y="2016125"/>
            <a:ext cx="10515600" cy="4351338"/>
          </a:xfrm>
        </p:spPr>
        <p:txBody>
          <a:bodyPr vert="horz" lIns="91440" tIns="45720" rIns="91440" bIns="45720" rtlCol="0" anchor="t">
            <a:normAutofit/>
          </a:bodyPr>
          <a:lstStyle/>
          <a:p>
            <a:pPr marL="0" indent="0">
              <a:buNone/>
            </a:pPr>
            <a:r>
              <a:rPr lang="en-US">
                <a:ea typeface="等线"/>
              </a:rPr>
              <a:t>Flights</a:t>
            </a:r>
          </a:p>
        </p:txBody>
      </p:sp>
      <p:pic>
        <p:nvPicPr>
          <p:cNvPr id="17" name="Picture 16" descr="A white background with black text&#10;&#10;AI-generated content may be incorrect.">
            <a:extLst>
              <a:ext uri="{FF2B5EF4-FFF2-40B4-BE49-F238E27FC236}">
                <a16:creationId xmlns:a16="http://schemas.microsoft.com/office/drawing/2014/main" id="{1A50549A-3D99-FBEC-0758-8BD48906C5B6}"/>
              </a:ext>
            </a:extLst>
          </p:cNvPr>
          <p:cNvPicPr>
            <a:picLocks noChangeAspect="1"/>
          </p:cNvPicPr>
          <p:nvPr/>
        </p:nvPicPr>
        <p:blipFill>
          <a:blip r:embed="rId2"/>
          <a:stretch>
            <a:fillRect/>
          </a:stretch>
        </p:blipFill>
        <p:spPr>
          <a:xfrm>
            <a:off x="166265" y="2761316"/>
            <a:ext cx="12057523" cy="3449688"/>
          </a:xfrm>
          <a:prstGeom prst="rect">
            <a:avLst/>
          </a:prstGeom>
        </p:spPr>
      </p:pic>
    </p:spTree>
    <p:extLst>
      <p:ext uri="{BB962C8B-B14F-4D97-AF65-F5344CB8AC3E}">
        <p14:creationId xmlns:p14="http://schemas.microsoft.com/office/powerpoint/2010/main" val="3324149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4CF97C-54AD-770C-363C-57AC25A6F0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6DEDA-3906-7823-8100-ACEF146D81C7}"/>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lang="en-US" sz="4000"/>
              <a:t>Missing Value in Dataset?</a:t>
            </a:r>
          </a:p>
        </p:txBody>
      </p:sp>
      <p:cxnSp>
        <p:nvCxnSpPr>
          <p:cNvPr id="10" name="Straight Connector 9">
            <a:extLst>
              <a:ext uri="{FF2B5EF4-FFF2-40B4-BE49-F238E27FC236}">
                <a16:creationId xmlns:a16="http://schemas.microsoft.com/office/drawing/2014/main" id="{5B186E9E-637F-EED0-2138-8ED3C4DBED2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9CCD2BF-6AB6-23CC-7368-6BC0E26926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5B7D166-0CC2-5D92-6FC7-7A4014A41FAD}"/>
              </a:ext>
            </a:extLst>
          </p:cNvPr>
          <p:cNvSpPr txBox="1"/>
          <p:nvPr/>
        </p:nvSpPr>
        <p:spPr>
          <a:xfrm>
            <a:off x="360516" y="1802581"/>
            <a:ext cx="11667612" cy="25236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1" name="TextBox 10">
            <a:extLst>
              <a:ext uri="{FF2B5EF4-FFF2-40B4-BE49-F238E27FC236}">
                <a16:creationId xmlns:a16="http://schemas.microsoft.com/office/drawing/2014/main" id="{FA000918-BAD6-26E5-C44A-81FCA802D018}"/>
              </a:ext>
            </a:extLst>
          </p:cNvPr>
          <p:cNvSpPr txBox="1"/>
          <p:nvPr/>
        </p:nvSpPr>
        <p:spPr>
          <a:xfrm>
            <a:off x="309562" y="1893093"/>
            <a:ext cx="1176337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等线"/>
              </a:rPr>
              <a:t>Weather &amp; Planes</a:t>
            </a:r>
          </a:p>
        </p:txBody>
      </p:sp>
      <p:pic>
        <p:nvPicPr>
          <p:cNvPr id="9" name="Picture 8" descr="A screenshot of a computer&#10;&#10;AI-generated content may be incorrect.">
            <a:extLst>
              <a:ext uri="{FF2B5EF4-FFF2-40B4-BE49-F238E27FC236}">
                <a16:creationId xmlns:a16="http://schemas.microsoft.com/office/drawing/2014/main" id="{A23AF4F4-ED7A-0F65-0C9C-760F0B0B11A9}"/>
              </a:ext>
            </a:extLst>
          </p:cNvPr>
          <p:cNvPicPr>
            <a:picLocks noChangeAspect="1"/>
          </p:cNvPicPr>
          <p:nvPr/>
        </p:nvPicPr>
        <p:blipFill>
          <a:blip r:embed="rId2"/>
          <a:stretch>
            <a:fillRect/>
          </a:stretch>
        </p:blipFill>
        <p:spPr>
          <a:xfrm>
            <a:off x="0" y="2733344"/>
            <a:ext cx="12192000" cy="3189154"/>
          </a:xfrm>
          <a:prstGeom prst="rect">
            <a:avLst/>
          </a:prstGeom>
        </p:spPr>
      </p:pic>
      <p:sp>
        <p:nvSpPr>
          <p:cNvPr id="13" name="Content Placeholder 12">
            <a:extLst>
              <a:ext uri="{FF2B5EF4-FFF2-40B4-BE49-F238E27FC236}">
                <a16:creationId xmlns:a16="http://schemas.microsoft.com/office/drawing/2014/main" id="{C1334C08-D2EA-89C3-2423-00502D26EBBE}"/>
              </a:ext>
            </a:extLst>
          </p:cNvPr>
          <p:cNvSpPr>
            <a:spLocks noGrp="1"/>
          </p:cNvSpPr>
          <p:nvPr>
            <p:ph idx="1"/>
          </p:nvPr>
        </p:nvSpPr>
        <p:spPr/>
        <p:txBody>
          <a:bodyPr vert="horz" lIns="91440" tIns="45720" rIns="91440" bIns="45720" rtlCol="0" anchor="t">
            <a:normAutofit/>
          </a:bodyPr>
          <a:lstStyle/>
          <a:p>
            <a:pPr marL="0" indent="0">
              <a:buNone/>
            </a:pPr>
            <a:r>
              <a:rPr lang="en-US">
                <a:ea typeface="等线"/>
              </a:rPr>
              <a:t> </a:t>
            </a:r>
          </a:p>
        </p:txBody>
      </p:sp>
    </p:spTree>
    <p:extLst>
      <p:ext uri="{BB962C8B-B14F-4D97-AF65-F5344CB8AC3E}">
        <p14:creationId xmlns:p14="http://schemas.microsoft.com/office/powerpoint/2010/main" val="974636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B53CD5-F3CB-9401-47F9-60F8D391CEC1}"/>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Response Variable Distribution</a:t>
            </a:r>
          </a:p>
        </p:txBody>
      </p:sp>
      <p:pic>
        <p:nvPicPr>
          <p:cNvPr id="7" name="Content Placeholder 6" descr="A graph of a time line&#10;&#10;AI-generated content may be incorrect.">
            <a:extLst>
              <a:ext uri="{FF2B5EF4-FFF2-40B4-BE49-F238E27FC236}">
                <a16:creationId xmlns:a16="http://schemas.microsoft.com/office/drawing/2014/main" id="{ED08DEFE-7A79-F17C-7C84-4EF46BBCE145}"/>
              </a:ext>
            </a:extLst>
          </p:cNvPr>
          <p:cNvPicPr>
            <a:picLocks noGrp="1" noChangeAspect="1"/>
          </p:cNvPicPr>
          <p:nvPr>
            <p:ph idx="1"/>
          </p:nvPr>
        </p:nvPicPr>
        <p:blipFill>
          <a:blip r:embed="rId2"/>
          <a:stretch>
            <a:fillRect/>
          </a:stretch>
        </p:blipFill>
        <p:spPr>
          <a:xfrm>
            <a:off x="4228349" y="905407"/>
            <a:ext cx="7968763" cy="5143179"/>
          </a:xfrm>
          <a:prstGeom prst="rect">
            <a:avLst/>
          </a:prstGeom>
        </p:spPr>
      </p:pic>
    </p:spTree>
    <p:extLst>
      <p:ext uri="{BB962C8B-B14F-4D97-AF65-F5344CB8AC3E}">
        <p14:creationId xmlns:p14="http://schemas.microsoft.com/office/powerpoint/2010/main" val="200495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37C10C-0032-24AF-133C-3212DCF4D5F1}"/>
            </a:ext>
          </a:extLst>
        </p:cNvPr>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4416AA-E596-7F33-737A-DA43EA299DF9}"/>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Response Variable Distribution</a:t>
            </a:r>
          </a:p>
        </p:txBody>
      </p:sp>
      <p:pic>
        <p:nvPicPr>
          <p:cNvPr id="4" name="Content Placeholder 3" descr="A blue and orange squares&#10;&#10;AI-generated content may be incorrect.">
            <a:extLst>
              <a:ext uri="{FF2B5EF4-FFF2-40B4-BE49-F238E27FC236}">
                <a16:creationId xmlns:a16="http://schemas.microsoft.com/office/drawing/2014/main" id="{B2E13DE3-AC6D-2AC3-BF9A-139CFF784C35}"/>
              </a:ext>
            </a:extLst>
          </p:cNvPr>
          <p:cNvPicPr>
            <a:picLocks noGrp="1" noChangeAspect="1"/>
          </p:cNvPicPr>
          <p:nvPr>
            <p:ph idx="1"/>
          </p:nvPr>
        </p:nvPicPr>
        <p:blipFill>
          <a:blip r:embed="rId2"/>
          <a:stretch>
            <a:fillRect/>
          </a:stretch>
        </p:blipFill>
        <p:spPr>
          <a:xfrm>
            <a:off x="4449575" y="1074643"/>
            <a:ext cx="7739344" cy="4599869"/>
          </a:xfrm>
          <a:prstGeom prst="rect">
            <a:avLst/>
          </a:prstGeom>
        </p:spPr>
      </p:pic>
    </p:spTree>
    <p:extLst>
      <p:ext uri="{BB962C8B-B14F-4D97-AF65-F5344CB8AC3E}">
        <p14:creationId xmlns:p14="http://schemas.microsoft.com/office/powerpoint/2010/main" val="979731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7ED984-8EB4-2637-1D98-B8CC1E548E7D}"/>
              </a:ext>
            </a:extLst>
          </p:cNvPr>
          <p:cNvSpPr>
            <a:spLocks noGrp="1"/>
          </p:cNvSpPr>
          <p:nvPr>
            <p:ph type="title"/>
          </p:nvPr>
        </p:nvSpPr>
        <p:spPr>
          <a:xfrm>
            <a:off x="638881" y="670218"/>
            <a:ext cx="10909640" cy="1065836"/>
          </a:xfrm>
        </p:spPr>
        <p:txBody>
          <a:bodyPr vert="horz" lIns="91440" tIns="45720" rIns="91440" bIns="45720" rtlCol="0" anchor="ctr">
            <a:normAutofit/>
          </a:bodyPr>
          <a:lstStyle/>
          <a:p>
            <a:pPr algn="ctr"/>
            <a:r>
              <a:rPr lang="en-US" sz="6600"/>
              <a:t>Categorical Predictors</a:t>
            </a:r>
            <a:endParaRPr lang="en-US" sz="6600">
              <a:ea typeface="等线 Light"/>
            </a:endParaRPr>
          </a:p>
        </p:txBody>
      </p:sp>
      <p:sp>
        <p:nvSpPr>
          <p:cNvPr id="13"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1800088"/>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ie chart with different colored circles&#10;&#10;AI-generated content may be incorrect.">
            <a:extLst>
              <a:ext uri="{FF2B5EF4-FFF2-40B4-BE49-F238E27FC236}">
                <a16:creationId xmlns:a16="http://schemas.microsoft.com/office/drawing/2014/main" id="{32271996-1D18-2CD5-2057-526918CB342B}"/>
              </a:ext>
            </a:extLst>
          </p:cNvPr>
          <p:cNvPicPr>
            <a:picLocks noChangeAspect="1"/>
          </p:cNvPicPr>
          <p:nvPr/>
        </p:nvPicPr>
        <p:blipFill>
          <a:blip r:embed="rId2"/>
          <a:stretch>
            <a:fillRect/>
          </a:stretch>
        </p:blipFill>
        <p:spPr>
          <a:xfrm>
            <a:off x="655183" y="2619784"/>
            <a:ext cx="3033034" cy="3600041"/>
          </a:xfrm>
          <a:prstGeom prst="rect">
            <a:avLst/>
          </a:prstGeom>
        </p:spPr>
      </p:pic>
      <p:pic>
        <p:nvPicPr>
          <p:cNvPr id="4" name="Content Placeholder 3" descr="A colorful wheel with numbers&#10;&#10;AI-generated content may be incorrect.">
            <a:extLst>
              <a:ext uri="{FF2B5EF4-FFF2-40B4-BE49-F238E27FC236}">
                <a16:creationId xmlns:a16="http://schemas.microsoft.com/office/drawing/2014/main" id="{3427CDE5-EBDB-B5E9-793C-50FA027FDA21}"/>
              </a:ext>
            </a:extLst>
          </p:cNvPr>
          <p:cNvPicPr>
            <a:picLocks noGrp="1" noChangeAspect="1"/>
          </p:cNvPicPr>
          <p:nvPr>
            <p:ph idx="1"/>
          </p:nvPr>
        </p:nvPicPr>
        <p:blipFill>
          <a:blip r:embed="rId3"/>
          <a:stretch>
            <a:fillRect/>
          </a:stretch>
        </p:blipFill>
        <p:spPr>
          <a:xfrm>
            <a:off x="4574983" y="2619784"/>
            <a:ext cx="3042034" cy="3600041"/>
          </a:xfrm>
          <a:prstGeom prst="rect">
            <a:avLst/>
          </a:prstGeom>
        </p:spPr>
      </p:pic>
      <p:pic>
        <p:nvPicPr>
          <p:cNvPr id="5" name="Picture 4" descr="A colorful circle with letters and numbers&#10;&#10;AI-generated content may be incorrect.">
            <a:extLst>
              <a:ext uri="{FF2B5EF4-FFF2-40B4-BE49-F238E27FC236}">
                <a16:creationId xmlns:a16="http://schemas.microsoft.com/office/drawing/2014/main" id="{CBB47B6D-EBC4-3ACF-2E42-681F3E827A59}"/>
              </a:ext>
            </a:extLst>
          </p:cNvPr>
          <p:cNvPicPr>
            <a:picLocks noChangeAspect="1"/>
          </p:cNvPicPr>
          <p:nvPr/>
        </p:nvPicPr>
        <p:blipFill>
          <a:blip r:embed="rId4"/>
          <a:stretch>
            <a:fillRect/>
          </a:stretch>
        </p:blipFill>
        <p:spPr>
          <a:xfrm>
            <a:off x="8463282" y="2619784"/>
            <a:ext cx="3114035" cy="3600041"/>
          </a:xfrm>
          <a:prstGeom prst="rect">
            <a:avLst/>
          </a:prstGeom>
        </p:spPr>
      </p:pic>
    </p:spTree>
    <p:extLst>
      <p:ext uri="{BB962C8B-B14F-4D97-AF65-F5344CB8AC3E}">
        <p14:creationId xmlns:p14="http://schemas.microsoft.com/office/powerpoint/2010/main" val="2399928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2885CC-9037-3590-FF36-B32509DCE5C6}"/>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Quantitative Predictors</a:t>
            </a:r>
          </a:p>
        </p:txBody>
      </p:sp>
      <p:sp>
        <p:nvSpPr>
          <p:cNvPr id="1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of a number of columns&#10;&#10;AI-generated content may be incorrect.">
            <a:extLst>
              <a:ext uri="{FF2B5EF4-FFF2-40B4-BE49-F238E27FC236}">
                <a16:creationId xmlns:a16="http://schemas.microsoft.com/office/drawing/2014/main" id="{03E3BB0B-F7BF-680D-54C6-0B8E0F149B0E}"/>
              </a:ext>
            </a:extLst>
          </p:cNvPr>
          <p:cNvPicPr>
            <a:picLocks noChangeAspect="1"/>
          </p:cNvPicPr>
          <p:nvPr/>
        </p:nvPicPr>
        <p:blipFill>
          <a:blip r:embed="rId2"/>
          <a:stretch>
            <a:fillRect/>
          </a:stretch>
        </p:blipFill>
        <p:spPr>
          <a:xfrm>
            <a:off x="320040" y="2859436"/>
            <a:ext cx="5614416" cy="3172144"/>
          </a:xfrm>
          <a:prstGeom prst="rect">
            <a:avLst/>
          </a:prstGeom>
        </p:spPr>
      </p:pic>
      <p:pic>
        <p:nvPicPr>
          <p:cNvPr id="4" name="Content Placeholder 3" descr="A graph of a flight distance&#10;&#10;AI-generated content may be incorrect.">
            <a:extLst>
              <a:ext uri="{FF2B5EF4-FFF2-40B4-BE49-F238E27FC236}">
                <a16:creationId xmlns:a16="http://schemas.microsoft.com/office/drawing/2014/main" id="{8B2AD525-3D50-B770-6818-3DC0FE7E6381}"/>
              </a:ext>
            </a:extLst>
          </p:cNvPr>
          <p:cNvPicPr>
            <a:picLocks noGrp="1" noChangeAspect="1"/>
          </p:cNvPicPr>
          <p:nvPr>
            <p:ph idx="1"/>
          </p:nvPr>
        </p:nvPicPr>
        <p:blipFill>
          <a:blip r:embed="rId3"/>
          <a:stretch>
            <a:fillRect/>
          </a:stretch>
        </p:blipFill>
        <p:spPr>
          <a:xfrm>
            <a:off x="6254496" y="2943651"/>
            <a:ext cx="5614416" cy="3003713"/>
          </a:xfrm>
          <a:prstGeom prst="rect">
            <a:avLst/>
          </a:prstGeom>
        </p:spPr>
      </p:pic>
    </p:spTree>
    <p:extLst>
      <p:ext uri="{BB962C8B-B14F-4D97-AF65-F5344CB8AC3E}">
        <p14:creationId xmlns:p14="http://schemas.microsoft.com/office/powerpoint/2010/main" val="2580854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Rectangle 2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4B6351-9CE4-D4CE-CA53-285F1AD9BF3B}"/>
              </a:ext>
            </a:extLst>
          </p:cNvPr>
          <p:cNvSpPr>
            <a:spLocks noGrp="1"/>
          </p:cNvSpPr>
          <p:nvPr>
            <p:ph type="title"/>
          </p:nvPr>
        </p:nvSpPr>
        <p:spPr>
          <a:xfrm>
            <a:off x="1115568" y="548640"/>
            <a:ext cx="10168128" cy="1179576"/>
          </a:xfrm>
        </p:spPr>
        <p:txBody>
          <a:bodyPr>
            <a:normAutofit/>
          </a:bodyPr>
          <a:lstStyle/>
          <a:p>
            <a:r>
              <a:rPr lang="en-US" sz="4000">
                <a:ea typeface="等线 Light"/>
              </a:rPr>
              <a:t>Interesting Findings: Time of the Day</a:t>
            </a:r>
            <a:endParaRPr lang="en-US" sz="4000"/>
          </a:p>
        </p:txBody>
      </p:sp>
      <p:sp>
        <p:nvSpPr>
          <p:cNvPr id="26" name="Rectangle 2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descr="A graph of flight time&#10;&#10;AI-generated content may be incorrect.">
            <a:extLst>
              <a:ext uri="{FF2B5EF4-FFF2-40B4-BE49-F238E27FC236}">
                <a16:creationId xmlns:a16="http://schemas.microsoft.com/office/drawing/2014/main" id="{D69F74B6-84B0-C9EA-3320-AB03463210C8}"/>
              </a:ext>
            </a:extLst>
          </p:cNvPr>
          <p:cNvPicPr>
            <a:picLocks noChangeAspect="1"/>
          </p:cNvPicPr>
          <p:nvPr/>
        </p:nvPicPr>
        <p:blipFill>
          <a:blip r:embed="rId2"/>
          <a:srcRect r="2" b="1653"/>
          <a:stretch>
            <a:fillRect/>
          </a:stretch>
        </p:blipFill>
        <p:spPr>
          <a:xfrm>
            <a:off x="494173" y="2218503"/>
            <a:ext cx="7036899" cy="4329175"/>
          </a:xfrm>
          <a:prstGeom prst="rect">
            <a:avLst/>
          </a:prstGeom>
        </p:spPr>
      </p:pic>
      <p:sp>
        <p:nvSpPr>
          <p:cNvPr id="8" name="Content Placeholder 7">
            <a:extLst>
              <a:ext uri="{FF2B5EF4-FFF2-40B4-BE49-F238E27FC236}">
                <a16:creationId xmlns:a16="http://schemas.microsoft.com/office/drawing/2014/main" id="{04AA3093-56BD-0256-B26A-A7A2883A979E}"/>
              </a:ext>
            </a:extLst>
          </p:cNvPr>
          <p:cNvSpPr>
            <a:spLocks noGrp="1"/>
          </p:cNvSpPr>
          <p:nvPr>
            <p:ph idx="1"/>
          </p:nvPr>
        </p:nvSpPr>
        <p:spPr>
          <a:xfrm>
            <a:off x="7411453" y="2007728"/>
            <a:ext cx="4757877" cy="4833464"/>
          </a:xfrm>
        </p:spPr>
        <p:txBody>
          <a:bodyPr vert="horz" lIns="91440" tIns="45720" rIns="91440" bIns="45720" rtlCol="0" anchor="ctr">
            <a:noAutofit/>
          </a:bodyPr>
          <a:lstStyle/>
          <a:p>
            <a:r>
              <a:rPr lang="en-US" sz="2000">
                <a:ea typeface="+mn-lt"/>
                <a:cs typeface="+mn-lt"/>
              </a:rPr>
              <a:t>The morning time period (5:00–11:59) is the busiest part of the day. Flight activity decreases as the day progresses, with the afternoon (12:00–16:59) still having a high number of flights, followed by the evening (17:00–20:59). The night period (21:00–4:59) has by far the smallest number of flights. </a:t>
            </a:r>
          </a:p>
          <a:p>
            <a:r>
              <a:rPr lang="en-US" sz="2000">
                <a:ea typeface="+mn-lt"/>
                <a:cs typeface="+mn-lt"/>
              </a:rPr>
              <a:t>This graph suggests that </a:t>
            </a:r>
            <a:r>
              <a:rPr lang="en-US" sz="2000" b="1">
                <a:ea typeface="+mn-lt"/>
                <a:cs typeface="+mn-lt"/>
              </a:rPr>
              <a:t>most NYC flights are scheduled earlier in the day</a:t>
            </a:r>
            <a:r>
              <a:rPr lang="en-US" sz="2000">
                <a:ea typeface="+mn-lt"/>
                <a:cs typeface="+mn-lt"/>
              </a:rPr>
              <a:t> and flights of day shows a stable descending pattern.</a:t>
            </a:r>
            <a:endParaRPr lang="en-US" sz="2000">
              <a:ea typeface="等线"/>
            </a:endParaRPr>
          </a:p>
          <a:p>
            <a:endParaRPr lang="en-US" sz="1500">
              <a:ea typeface="等线"/>
            </a:endParaRPr>
          </a:p>
        </p:txBody>
      </p:sp>
    </p:spTree>
    <p:extLst>
      <p:ext uri="{BB962C8B-B14F-4D97-AF65-F5344CB8AC3E}">
        <p14:creationId xmlns:p14="http://schemas.microsoft.com/office/powerpoint/2010/main" val="695444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1F3C1D-FFA8-4718-4608-C4D887372874}"/>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143D5A7-BC41-03BC-A46E-570DED4E4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BC32953C-E7EE-1C7E-3536-8C6D96A40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Rectangle 23">
            <a:extLst>
              <a:ext uri="{FF2B5EF4-FFF2-40B4-BE49-F238E27FC236}">
                <a16:creationId xmlns:a16="http://schemas.microsoft.com/office/drawing/2014/main" id="{95BFEDCD-7D88-F8F2-69C7-1FC9633C2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89CE28D-D765-90EF-9E1E-538F0F8DE3F8}"/>
              </a:ext>
            </a:extLst>
          </p:cNvPr>
          <p:cNvSpPr>
            <a:spLocks noGrp="1"/>
          </p:cNvSpPr>
          <p:nvPr>
            <p:ph type="title"/>
          </p:nvPr>
        </p:nvSpPr>
        <p:spPr>
          <a:xfrm>
            <a:off x="1115568" y="548640"/>
            <a:ext cx="10168128" cy="1179576"/>
          </a:xfrm>
        </p:spPr>
        <p:txBody>
          <a:bodyPr>
            <a:normAutofit/>
          </a:bodyPr>
          <a:lstStyle/>
          <a:p>
            <a:r>
              <a:rPr lang="en-US" sz="4000">
                <a:ea typeface="等线 Light"/>
              </a:rPr>
              <a:t>Interesting Findings: Time of the Day</a:t>
            </a:r>
          </a:p>
        </p:txBody>
      </p:sp>
      <p:sp>
        <p:nvSpPr>
          <p:cNvPr id="26" name="Rectangle 25">
            <a:extLst>
              <a:ext uri="{FF2B5EF4-FFF2-40B4-BE49-F238E27FC236}">
                <a16:creationId xmlns:a16="http://schemas.microsoft.com/office/drawing/2014/main" id="{69B9C65C-CCCD-5224-521C-5AB2076015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4D1C8A17-B4BC-2946-9C88-A2D4E480F513}"/>
              </a:ext>
            </a:extLst>
          </p:cNvPr>
          <p:cNvSpPr>
            <a:spLocks noGrp="1"/>
          </p:cNvSpPr>
          <p:nvPr>
            <p:ph idx="1"/>
          </p:nvPr>
        </p:nvSpPr>
        <p:spPr>
          <a:xfrm>
            <a:off x="7329518" y="2007728"/>
            <a:ext cx="4856199" cy="4841657"/>
          </a:xfrm>
        </p:spPr>
        <p:txBody>
          <a:bodyPr vert="horz" lIns="91440" tIns="45720" rIns="91440" bIns="45720" rtlCol="0" anchor="ctr">
            <a:noAutofit/>
          </a:bodyPr>
          <a:lstStyle/>
          <a:p>
            <a:r>
              <a:rPr lang="en-US" sz="2000">
                <a:ea typeface="+mn-lt"/>
                <a:cs typeface="+mn-lt"/>
              </a:rPr>
              <a:t>Morning (5:00–11:59)</a:t>
            </a:r>
            <a:endParaRPr lang="en-US"/>
          </a:p>
          <a:p>
            <a:r>
              <a:rPr lang="en-US" sz="2000">
                <a:ea typeface="+mn-lt"/>
                <a:cs typeface="+mn-lt"/>
              </a:rPr>
              <a:t>Afternoon (12:00–16:59)</a:t>
            </a:r>
            <a:endParaRPr lang="en-US">
              <a:ea typeface="+mn-lt"/>
              <a:cs typeface="+mn-lt"/>
            </a:endParaRPr>
          </a:p>
          <a:p>
            <a:r>
              <a:rPr lang="en-US" sz="2000">
                <a:ea typeface="+mn-lt"/>
                <a:cs typeface="+mn-lt"/>
              </a:rPr>
              <a:t>Evening (17:00–20:59)</a:t>
            </a:r>
            <a:endParaRPr lang="en-US">
              <a:ea typeface="+mn-lt"/>
              <a:cs typeface="+mn-lt"/>
            </a:endParaRPr>
          </a:p>
          <a:p>
            <a:r>
              <a:rPr lang="en-US" sz="2000">
                <a:ea typeface="+mn-lt"/>
                <a:cs typeface="+mn-lt"/>
              </a:rPr>
              <a:t>Night(21:00–4:59)</a:t>
            </a:r>
          </a:p>
          <a:p>
            <a:r>
              <a:rPr lang="en-US" sz="2000">
                <a:ea typeface="+mn-lt"/>
                <a:cs typeface="+mn-lt"/>
              </a:rPr>
              <a:t>This graph suggests that </a:t>
            </a:r>
            <a:r>
              <a:rPr lang="en-US" sz="2000" b="1">
                <a:ea typeface="+mn-lt"/>
                <a:cs typeface="+mn-lt"/>
              </a:rPr>
              <a:t>most NYC flights delay possibility grows as time of day goes on. </a:t>
            </a:r>
            <a:endParaRPr lang="en-US" sz="2000">
              <a:ea typeface="等线"/>
            </a:endParaRPr>
          </a:p>
          <a:p>
            <a:endParaRPr lang="en-US" sz="1500">
              <a:ea typeface="等线"/>
            </a:endParaRPr>
          </a:p>
        </p:txBody>
      </p:sp>
      <p:pic>
        <p:nvPicPr>
          <p:cNvPr id="3" name="Picture 2" descr="A graph of time and time&#10;&#10;AI-generated content may be incorrect.">
            <a:extLst>
              <a:ext uri="{FF2B5EF4-FFF2-40B4-BE49-F238E27FC236}">
                <a16:creationId xmlns:a16="http://schemas.microsoft.com/office/drawing/2014/main" id="{9C69D5BA-4ECD-FFCD-8F29-C393DC7B4BD3}"/>
              </a:ext>
            </a:extLst>
          </p:cNvPr>
          <p:cNvPicPr>
            <a:picLocks noChangeAspect="1"/>
          </p:cNvPicPr>
          <p:nvPr/>
        </p:nvPicPr>
        <p:blipFill>
          <a:blip r:embed="rId2"/>
          <a:stretch>
            <a:fillRect/>
          </a:stretch>
        </p:blipFill>
        <p:spPr>
          <a:xfrm>
            <a:off x="559622" y="2351548"/>
            <a:ext cx="6631852" cy="4145936"/>
          </a:xfrm>
          <a:prstGeom prst="rect">
            <a:avLst/>
          </a:prstGeom>
        </p:spPr>
      </p:pic>
    </p:spTree>
    <p:extLst>
      <p:ext uri="{BB962C8B-B14F-4D97-AF65-F5344CB8AC3E}">
        <p14:creationId xmlns:p14="http://schemas.microsoft.com/office/powerpoint/2010/main" val="3577466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81C2A0-9A24-765E-25DC-9B25A2D0AC4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1B0B875-FB85-DF7F-7C9E-A615044AF0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7001042B-C9F5-87EC-2AAD-F28B4AD0D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Rectangle 23">
            <a:extLst>
              <a:ext uri="{FF2B5EF4-FFF2-40B4-BE49-F238E27FC236}">
                <a16:creationId xmlns:a16="http://schemas.microsoft.com/office/drawing/2014/main" id="{387797D4-1A41-8E14-85EE-89CDEEAAF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8FE6450-9A7D-F689-55B0-6A59549B0A9E}"/>
              </a:ext>
            </a:extLst>
          </p:cNvPr>
          <p:cNvSpPr>
            <a:spLocks noGrp="1"/>
          </p:cNvSpPr>
          <p:nvPr>
            <p:ph type="title"/>
          </p:nvPr>
        </p:nvSpPr>
        <p:spPr>
          <a:xfrm>
            <a:off x="1115568" y="548640"/>
            <a:ext cx="10168128" cy="1179576"/>
          </a:xfrm>
        </p:spPr>
        <p:txBody>
          <a:bodyPr>
            <a:normAutofit/>
          </a:bodyPr>
          <a:lstStyle/>
          <a:p>
            <a:r>
              <a:rPr lang="en-US" sz="4000">
                <a:ea typeface="等线 Light"/>
              </a:rPr>
              <a:t>Interesting Finding: Month</a:t>
            </a:r>
            <a:endParaRPr lang="en-US" sz="4000"/>
          </a:p>
        </p:txBody>
      </p:sp>
      <p:sp>
        <p:nvSpPr>
          <p:cNvPr id="26" name="Rectangle 25">
            <a:extLst>
              <a:ext uri="{FF2B5EF4-FFF2-40B4-BE49-F238E27FC236}">
                <a16:creationId xmlns:a16="http://schemas.microsoft.com/office/drawing/2014/main" id="{9144DF56-8B7D-10B7-905E-4619E11F20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00BE36C0-7EE4-360A-1944-FD3AC353298D}"/>
              </a:ext>
            </a:extLst>
          </p:cNvPr>
          <p:cNvSpPr>
            <a:spLocks noGrp="1"/>
          </p:cNvSpPr>
          <p:nvPr>
            <p:ph idx="1"/>
          </p:nvPr>
        </p:nvSpPr>
        <p:spPr>
          <a:xfrm>
            <a:off x="7198550" y="2007728"/>
            <a:ext cx="4987167" cy="4841657"/>
          </a:xfrm>
        </p:spPr>
        <p:txBody>
          <a:bodyPr vert="horz" lIns="91440" tIns="45720" rIns="91440" bIns="45720" rtlCol="0" anchor="ctr">
            <a:noAutofit/>
          </a:bodyPr>
          <a:lstStyle/>
          <a:p>
            <a:pPr marL="0" indent="0">
              <a:buNone/>
            </a:pPr>
            <a:endParaRPr lang="en-US" sz="2000">
              <a:ea typeface="+mn-lt"/>
              <a:cs typeface="+mn-lt"/>
            </a:endParaRPr>
          </a:p>
          <a:p>
            <a:r>
              <a:rPr lang="en-US">
                <a:ea typeface="+mn-lt"/>
                <a:cs typeface="+mn-lt"/>
              </a:rPr>
              <a:t>This graph suggests that </a:t>
            </a:r>
            <a:r>
              <a:rPr lang="en-US" b="1">
                <a:ea typeface="+mn-lt"/>
                <a:cs typeface="+mn-lt"/>
              </a:rPr>
              <a:t>NYC flights delay is more likely to happen in summer. </a:t>
            </a:r>
            <a:endParaRPr lang="en-US">
              <a:ea typeface="等线"/>
            </a:endParaRPr>
          </a:p>
          <a:p>
            <a:endParaRPr lang="en-US" sz="1500">
              <a:ea typeface="等线"/>
            </a:endParaRPr>
          </a:p>
        </p:txBody>
      </p:sp>
      <p:pic>
        <p:nvPicPr>
          <p:cNvPr id="4" name="Picture 3" descr="A line graph with months and months&#10;&#10;AI-generated content may be incorrect.">
            <a:extLst>
              <a:ext uri="{FF2B5EF4-FFF2-40B4-BE49-F238E27FC236}">
                <a16:creationId xmlns:a16="http://schemas.microsoft.com/office/drawing/2014/main" id="{4C9E76A3-9691-080E-A7AA-60B78553168F}"/>
              </a:ext>
            </a:extLst>
          </p:cNvPr>
          <p:cNvPicPr>
            <a:picLocks noChangeAspect="1"/>
          </p:cNvPicPr>
          <p:nvPr/>
        </p:nvPicPr>
        <p:blipFill>
          <a:blip r:embed="rId2"/>
          <a:stretch>
            <a:fillRect/>
          </a:stretch>
        </p:blipFill>
        <p:spPr>
          <a:xfrm>
            <a:off x="261785" y="2261418"/>
            <a:ext cx="6899786" cy="4334388"/>
          </a:xfrm>
          <a:prstGeom prst="rect">
            <a:avLst/>
          </a:prstGeom>
        </p:spPr>
      </p:pic>
    </p:spTree>
    <p:extLst>
      <p:ext uri="{BB962C8B-B14F-4D97-AF65-F5344CB8AC3E}">
        <p14:creationId xmlns:p14="http://schemas.microsoft.com/office/powerpoint/2010/main" val="3045856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8CD9DD-2316-C04F-AFB7-442E61DE1E06}"/>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206E08C-B265-A0CF-04A0-6F09FDCAC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0B974C44-BD2E-6CFB-D89D-BE96A5F3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Rectangle 23">
            <a:extLst>
              <a:ext uri="{FF2B5EF4-FFF2-40B4-BE49-F238E27FC236}">
                <a16:creationId xmlns:a16="http://schemas.microsoft.com/office/drawing/2014/main" id="{7FE13C92-AF89-C72F-439E-17327F627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CB480AD-A3E8-8B91-C670-1BB4E1BB7382}"/>
              </a:ext>
            </a:extLst>
          </p:cNvPr>
          <p:cNvSpPr>
            <a:spLocks noGrp="1"/>
          </p:cNvSpPr>
          <p:nvPr>
            <p:ph type="title"/>
          </p:nvPr>
        </p:nvSpPr>
        <p:spPr>
          <a:xfrm>
            <a:off x="1115568" y="548640"/>
            <a:ext cx="10168128" cy="1179576"/>
          </a:xfrm>
        </p:spPr>
        <p:txBody>
          <a:bodyPr>
            <a:normAutofit/>
          </a:bodyPr>
          <a:lstStyle/>
          <a:p>
            <a:r>
              <a:rPr lang="en-US" sz="4000">
                <a:ea typeface="等线 Light"/>
              </a:rPr>
              <a:t>Interesting Finding: Season</a:t>
            </a:r>
            <a:endParaRPr lang="en-US" sz="4000"/>
          </a:p>
        </p:txBody>
      </p:sp>
      <p:sp>
        <p:nvSpPr>
          <p:cNvPr id="26" name="Rectangle 25">
            <a:extLst>
              <a:ext uri="{FF2B5EF4-FFF2-40B4-BE49-F238E27FC236}">
                <a16:creationId xmlns:a16="http://schemas.microsoft.com/office/drawing/2014/main" id="{F3BF0740-8357-FA10-7B71-903033F14C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1A96B933-D319-E735-AF4A-20EA8A34CF49}"/>
              </a:ext>
            </a:extLst>
          </p:cNvPr>
          <p:cNvSpPr>
            <a:spLocks noGrp="1"/>
          </p:cNvSpPr>
          <p:nvPr>
            <p:ph idx="1"/>
          </p:nvPr>
        </p:nvSpPr>
        <p:spPr>
          <a:xfrm>
            <a:off x="7198550" y="2007728"/>
            <a:ext cx="4987167" cy="4841657"/>
          </a:xfrm>
        </p:spPr>
        <p:txBody>
          <a:bodyPr vert="horz" lIns="91440" tIns="45720" rIns="91440" bIns="45720" rtlCol="0" anchor="ctr">
            <a:noAutofit/>
          </a:bodyPr>
          <a:lstStyle/>
          <a:p>
            <a:pPr marL="0" indent="0">
              <a:buNone/>
            </a:pPr>
            <a:endParaRPr lang="en-US" sz="2000">
              <a:ea typeface="+mn-lt"/>
              <a:cs typeface="+mn-lt"/>
            </a:endParaRPr>
          </a:p>
          <a:p>
            <a:r>
              <a:rPr lang="en-US">
                <a:ea typeface="+mn-lt"/>
                <a:cs typeface="+mn-lt"/>
              </a:rPr>
              <a:t>This graph suggests that </a:t>
            </a:r>
            <a:r>
              <a:rPr lang="en-US" b="1">
                <a:ea typeface="+mn-lt"/>
                <a:cs typeface="+mn-lt"/>
              </a:rPr>
              <a:t>NYC flights delay is more likely to happen in summer. </a:t>
            </a:r>
            <a:endParaRPr lang="en-US">
              <a:ea typeface="等线"/>
            </a:endParaRPr>
          </a:p>
          <a:p>
            <a:endParaRPr lang="en-US" sz="1500">
              <a:ea typeface="等线"/>
            </a:endParaRPr>
          </a:p>
        </p:txBody>
      </p:sp>
      <p:pic>
        <p:nvPicPr>
          <p:cNvPr id="3" name="Picture 2" descr="A graph of different colored bars&#10;&#10;AI-generated content may be incorrect.">
            <a:extLst>
              <a:ext uri="{FF2B5EF4-FFF2-40B4-BE49-F238E27FC236}">
                <a16:creationId xmlns:a16="http://schemas.microsoft.com/office/drawing/2014/main" id="{08D94311-E159-35F7-8920-D920538F5FBA}"/>
              </a:ext>
            </a:extLst>
          </p:cNvPr>
          <p:cNvPicPr>
            <a:picLocks noChangeAspect="1"/>
          </p:cNvPicPr>
          <p:nvPr/>
        </p:nvPicPr>
        <p:blipFill>
          <a:blip r:embed="rId2"/>
          <a:stretch>
            <a:fillRect/>
          </a:stretch>
        </p:blipFill>
        <p:spPr>
          <a:xfrm>
            <a:off x="500208" y="2495826"/>
            <a:ext cx="6614064" cy="4080566"/>
          </a:xfrm>
          <a:prstGeom prst="rect">
            <a:avLst/>
          </a:prstGeom>
        </p:spPr>
      </p:pic>
    </p:spTree>
    <p:extLst>
      <p:ext uri="{BB962C8B-B14F-4D97-AF65-F5344CB8AC3E}">
        <p14:creationId xmlns:p14="http://schemas.microsoft.com/office/powerpoint/2010/main" val="459354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7F277-ABBB-526A-EB98-737FB68CCC1B}"/>
              </a:ext>
            </a:extLst>
          </p:cNvPr>
          <p:cNvSpPr>
            <a:spLocks noGrp="1"/>
          </p:cNvSpPr>
          <p:nvPr>
            <p:ph type="title"/>
          </p:nvPr>
        </p:nvSpPr>
        <p:spPr/>
        <p:txBody>
          <a:bodyPr/>
          <a:lstStyle/>
          <a:p>
            <a:r>
              <a:rPr lang="en-US" sz="4000">
                <a:ea typeface="等线 Light"/>
              </a:rPr>
              <a:t>Interesting Finding: Airport</a:t>
            </a:r>
            <a:endParaRPr lang="en-US"/>
          </a:p>
        </p:txBody>
      </p:sp>
      <p:pic>
        <p:nvPicPr>
          <p:cNvPr id="4" name="Content Placeholder 3" descr="A graph of different colored squares&#10;&#10;AI-generated content may be incorrect.">
            <a:extLst>
              <a:ext uri="{FF2B5EF4-FFF2-40B4-BE49-F238E27FC236}">
                <a16:creationId xmlns:a16="http://schemas.microsoft.com/office/drawing/2014/main" id="{3D662BED-5726-1BEB-FCB3-6F37E4044C8E}"/>
              </a:ext>
            </a:extLst>
          </p:cNvPr>
          <p:cNvPicPr>
            <a:picLocks noGrp="1" noChangeAspect="1"/>
          </p:cNvPicPr>
          <p:nvPr>
            <p:ph idx="1"/>
          </p:nvPr>
        </p:nvPicPr>
        <p:blipFill>
          <a:blip r:embed="rId2"/>
          <a:stretch>
            <a:fillRect/>
          </a:stretch>
        </p:blipFill>
        <p:spPr>
          <a:xfrm>
            <a:off x="2782496" y="1825625"/>
            <a:ext cx="6627007" cy="4351338"/>
          </a:xfrm>
          <a:prstGeom prst="rect">
            <a:avLst/>
          </a:prstGeom>
        </p:spPr>
      </p:pic>
    </p:spTree>
    <p:extLst>
      <p:ext uri="{BB962C8B-B14F-4D97-AF65-F5344CB8AC3E}">
        <p14:creationId xmlns:p14="http://schemas.microsoft.com/office/powerpoint/2010/main" val="741675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C3971-553A-3439-C93D-8604F528995A}"/>
              </a:ext>
            </a:extLst>
          </p:cNvPr>
          <p:cNvSpPr>
            <a:spLocks noGrp="1"/>
          </p:cNvSpPr>
          <p:nvPr>
            <p:ph type="title"/>
          </p:nvPr>
        </p:nvSpPr>
        <p:spPr>
          <a:xfrm>
            <a:off x="909983" y="105603"/>
            <a:ext cx="10515600" cy="1325563"/>
          </a:xfrm>
        </p:spPr>
        <p:txBody>
          <a:bodyPr/>
          <a:lstStyle/>
          <a:p>
            <a:r>
              <a:rPr lang="en-US">
                <a:ea typeface="等线 Light"/>
              </a:rPr>
              <a:t>Significant predictor?</a:t>
            </a:r>
            <a:endParaRPr lang="en-US"/>
          </a:p>
        </p:txBody>
      </p:sp>
      <p:pic>
        <p:nvPicPr>
          <p:cNvPr id="4" name="Content Placeholder 3" descr="A screenshot of a computer code&#10;&#10;AI-generated content may be incorrect.">
            <a:extLst>
              <a:ext uri="{FF2B5EF4-FFF2-40B4-BE49-F238E27FC236}">
                <a16:creationId xmlns:a16="http://schemas.microsoft.com/office/drawing/2014/main" id="{32E3EB2B-B136-FE07-E8EC-001CA4BE796D}"/>
              </a:ext>
            </a:extLst>
          </p:cNvPr>
          <p:cNvPicPr>
            <a:picLocks noGrp="1" noChangeAspect="1"/>
          </p:cNvPicPr>
          <p:nvPr>
            <p:ph idx="1"/>
          </p:nvPr>
        </p:nvPicPr>
        <p:blipFill>
          <a:blip r:embed="rId2"/>
          <a:stretch>
            <a:fillRect/>
          </a:stretch>
        </p:blipFill>
        <p:spPr>
          <a:xfrm>
            <a:off x="1652587" y="2980633"/>
            <a:ext cx="8886825" cy="3876675"/>
          </a:xfrm>
          <a:prstGeom prst="rect">
            <a:avLst/>
          </a:prstGeom>
        </p:spPr>
      </p:pic>
      <p:sp>
        <p:nvSpPr>
          <p:cNvPr id="6" name="TextBox 5">
            <a:extLst>
              <a:ext uri="{FF2B5EF4-FFF2-40B4-BE49-F238E27FC236}">
                <a16:creationId xmlns:a16="http://schemas.microsoft.com/office/drawing/2014/main" id="{DB5D0D92-DCF4-6500-FE05-3E0889AC726F}"/>
              </a:ext>
            </a:extLst>
          </p:cNvPr>
          <p:cNvSpPr txBox="1"/>
          <p:nvPr/>
        </p:nvSpPr>
        <p:spPr>
          <a:xfrm>
            <a:off x="1016000" y="1671483"/>
            <a:ext cx="10078064" cy="9832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147BCF7B-C400-6BA7-381B-F64A2D5C027E}"/>
              </a:ext>
            </a:extLst>
          </p:cNvPr>
          <p:cNvSpPr txBox="1"/>
          <p:nvPr/>
        </p:nvSpPr>
        <p:spPr>
          <a:xfrm>
            <a:off x="642937" y="1214091"/>
            <a:ext cx="11048999"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ea typeface="+mn-lt"/>
                <a:cs typeface="+mn-lt"/>
              </a:rPr>
              <a:t>Null hypothesis (H₀): The average delay indicator is the same across airports, 𝜇JFK = 𝜇LGA = 𝜇EWR </a:t>
            </a:r>
            <a:endParaRPr lang="en-US" sz="2000">
              <a:ea typeface="等线"/>
            </a:endParaRPr>
          </a:p>
          <a:p>
            <a:r>
              <a:rPr lang="en-US" sz="2000">
                <a:ea typeface="+mn-lt"/>
                <a:cs typeface="+mn-lt"/>
              </a:rPr>
              <a:t>Alternative hypothesis (Hₐ): At least one airport has a different average delay indicator, hereby airport</a:t>
            </a:r>
            <a:endParaRPr lang="en-US" sz="2000">
              <a:ea typeface="等线"/>
            </a:endParaRPr>
          </a:p>
          <a:p>
            <a:pPr algn="l"/>
            <a:r>
              <a:rPr lang="en-US" sz="2000">
                <a:ea typeface="等线"/>
              </a:rPr>
              <a:t>Alpha=0.05</a:t>
            </a:r>
          </a:p>
          <a:p>
            <a:r>
              <a:rPr lang="en-US" sz="2000">
                <a:ea typeface="等线"/>
              </a:rPr>
              <a:t>Result: statistically significant</a:t>
            </a:r>
          </a:p>
        </p:txBody>
      </p:sp>
    </p:spTree>
    <p:extLst>
      <p:ext uri="{BB962C8B-B14F-4D97-AF65-F5344CB8AC3E}">
        <p14:creationId xmlns:p14="http://schemas.microsoft.com/office/powerpoint/2010/main" val="42940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3DCBF-8309-EF9B-4330-ECD0BFC71FB0}"/>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9795A81B-ECC9-6841-33C8-07E8B4953BA1}"/>
              </a:ext>
            </a:extLst>
          </p:cNvPr>
          <p:cNvPicPr>
            <a:picLocks noGrp="1" noChangeAspect="1"/>
          </p:cNvPicPr>
          <p:nvPr>
            <p:ph idx="1"/>
          </p:nvPr>
        </p:nvPicPr>
        <p:blipFill>
          <a:blip r:embed="rId2"/>
          <a:stretch>
            <a:fillRect/>
          </a:stretch>
        </p:blipFill>
        <p:spPr>
          <a:xfrm>
            <a:off x="711821" y="-1984"/>
            <a:ext cx="10603207" cy="6842177"/>
          </a:xfrm>
          <a:prstGeom prst="rect">
            <a:avLst/>
          </a:prstGeom>
        </p:spPr>
      </p:pic>
    </p:spTree>
    <p:extLst>
      <p:ext uri="{BB962C8B-B14F-4D97-AF65-F5344CB8AC3E}">
        <p14:creationId xmlns:p14="http://schemas.microsoft.com/office/powerpoint/2010/main" val="4274280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Rectangle 44">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B91A4D-4926-FFC9-8042-9DDA04354C80}"/>
              </a:ext>
            </a:extLst>
          </p:cNvPr>
          <p:cNvSpPr>
            <a:spLocks noGrp="1"/>
          </p:cNvSpPr>
          <p:nvPr>
            <p:ph type="title"/>
          </p:nvPr>
        </p:nvSpPr>
        <p:spPr>
          <a:xfrm>
            <a:off x="1046746" y="586822"/>
            <a:ext cx="3560252" cy="1645920"/>
          </a:xfrm>
        </p:spPr>
        <p:txBody>
          <a:bodyPr>
            <a:normAutofit/>
          </a:bodyPr>
          <a:lstStyle/>
          <a:p>
            <a:r>
              <a:rPr lang="en-US" sz="2700">
                <a:ea typeface="等线 Light"/>
              </a:rPr>
              <a:t>About variation of precipitation/visualbility</a:t>
            </a:r>
            <a:endParaRPr lang="en-US" sz="2700"/>
          </a:p>
        </p:txBody>
      </p:sp>
      <p:sp>
        <p:nvSpPr>
          <p:cNvPr id="47" name="Rectangle 46">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Content Placeholder 8">
            <a:extLst>
              <a:ext uri="{FF2B5EF4-FFF2-40B4-BE49-F238E27FC236}">
                <a16:creationId xmlns:a16="http://schemas.microsoft.com/office/drawing/2014/main" id="{51FBF7E0-18BA-C8FC-0C42-15E1AEF991E0}"/>
              </a:ext>
            </a:extLst>
          </p:cNvPr>
          <p:cNvSpPr>
            <a:spLocks noGrp="1"/>
          </p:cNvSpPr>
          <p:nvPr>
            <p:ph idx="1"/>
          </p:nvPr>
        </p:nvSpPr>
        <p:spPr>
          <a:xfrm>
            <a:off x="5351164" y="586822"/>
            <a:ext cx="6002636" cy="1645920"/>
          </a:xfrm>
        </p:spPr>
        <p:txBody>
          <a:bodyPr anchor="ctr">
            <a:normAutofit/>
          </a:bodyPr>
          <a:lstStyle/>
          <a:p>
            <a:r>
              <a:rPr lang="en-US" sz="1800">
                <a:ea typeface="等线"/>
              </a:rPr>
              <a:t>There is variation though the histogram does not show clearly.</a:t>
            </a:r>
            <a:endParaRPr lang="en-US" sz="1800"/>
          </a:p>
        </p:txBody>
      </p:sp>
      <p:pic>
        <p:nvPicPr>
          <p:cNvPr id="5" name="Picture 4" descr="A screenshot of a computer&#10;&#10;AI-generated content may be incorrect.">
            <a:extLst>
              <a:ext uri="{FF2B5EF4-FFF2-40B4-BE49-F238E27FC236}">
                <a16:creationId xmlns:a16="http://schemas.microsoft.com/office/drawing/2014/main" id="{F9DF6E05-1242-D792-3EE8-0FB090F4576C}"/>
              </a:ext>
            </a:extLst>
          </p:cNvPr>
          <p:cNvPicPr>
            <a:picLocks noChangeAspect="1"/>
          </p:cNvPicPr>
          <p:nvPr/>
        </p:nvPicPr>
        <p:blipFill>
          <a:blip r:embed="rId2"/>
          <a:stretch>
            <a:fillRect/>
          </a:stretch>
        </p:blipFill>
        <p:spPr>
          <a:xfrm>
            <a:off x="557784" y="2912913"/>
            <a:ext cx="11164824" cy="3126150"/>
          </a:xfrm>
          <a:prstGeom prst="rect">
            <a:avLst/>
          </a:prstGeom>
        </p:spPr>
      </p:pic>
    </p:spTree>
    <p:extLst>
      <p:ext uri="{BB962C8B-B14F-4D97-AF65-F5344CB8AC3E}">
        <p14:creationId xmlns:p14="http://schemas.microsoft.com/office/powerpoint/2010/main" val="2045443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EB4612-EE07-B731-1A5B-83B5D3FED9A5}"/>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5F77EB8F-7A55-8684-AC62-B41CBB2DC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Rectangle 44">
            <a:extLst>
              <a:ext uri="{FF2B5EF4-FFF2-40B4-BE49-F238E27FC236}">
                <a16:creationId xmlns:a16="http://schemas.microsoft.com/office/drawing/2014/main" id="{B3CCFAA7-B8B0-287C-B893-38FBACF978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62748E-EE17-E60E-F3F9-A5534157B7FC}"/>
              </a:ext>
            </a:extLst>
          </p:cNvPr>
          <p:cNvSpPr>
            <a:spLocks noGrp="1"/>
          </p:cNvSpPr>
          <p:nvPr>
            <p:ph type="title"/>
          </p:nvPr>
        </p:nvSpPr>
        <p:spPr>
          <a:xfrm>
            <a:off x="1046746" y="586822"/>
            <a:ext cx="3560252" cy="1645920"/>
          </a:xfrm>
        </p:spPr>
        <p:txBody>
          <a:bodyPr>
            <a:normAutofit/>
          </a:bodyPr>
          <a:lstStyle/>
          <a:p>
            <a:r>
              <a:rPr lang="en-US" sz="2700">
                <a:ea typeface="等线 Light"/>
              </a:rPr>
              <a:t>About variation of precipitation/visibility</a:t>
            </a:r>
            <a:endParaRPr lang="en-US" sz="2700"/>
          </a:p>
        </p:txBody>
      </p:sp>
      <p:sp>
        <p:nvSpPr>
          <p:cNvPr id="47" name="Rectangle 46">
            <a:extLst>
              <a:ext uri="{FF2B5EF4-FFF2-40B4-BE49-F238E27FC236}">
                <a16:creationId xmlns:a16="http://schemas.microsoft.com/office/drawing/2014/main" id="{1B09B778-33B9-5928-760E-542F6520F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32723A05-F5DE-3535-E72B-E9DF3E246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Content Placeholder 8">
            <a:extLst>
              <a:ext uri="{FF2B5EF4-FFF2-40B4-BE49-F238E27FC236}">
                <a16:creationId xmlns:a16="http://schemas.microsoft.com/office/drawing/2014/main" id="{3D262587-4CC3-0B53-4D51-A2AB88B05895}"/>
              </a:ext>
            </a:extLst>
          </p:cNvPr>
          <p:cNvSpPr>
            <a:spLocks noGrp="1"/>
          </p:cNvSpPr>
          <p:nvPr>
            <p:ph idx="1"/>
          </p:nvPr>
        </p:nvSpPr>
        <p:spPr>
          <a:xfrm>
            <a:off x="5351164" y="586822"/>
            <a:ext cx="6002636" cy="1645920"/>
          </a:xfrm>
        </p:spPr>
        <p:txBody>
          <a:bodyPr anchor="ctr">
            <a:normAutofit/>
          </a:bodyPr>
          <a:lstStyle/>
          <a:p>
            <a:r>
              <a:rPr lang="en-US" sz="1800">
                <a:ea typeface="等线"/>
              </a:rPr>
              <a:t>There is variation though the histogram does not show clearly.</a:t>
            </a:r>
            <a:endParaRPr lang="en-US" sz="1800"/>
          </a:p>
        </p:txBody>
      </p:sp>
      <p:pic>
        <p:nvPicPr>
          <p:cNvPr id="3" name="Picture 2" descr="A screenshot of a computer&#10;&#10;AI-generated content may be incorrect.">
            <a:extLst>
              <a:ext uri="{FF2B5EF4-FFF2-40B4-BE49-F238E27FC236}">
                <a16:creationId xmlns:a16="http://schemas.microsoft.com/office/drawing/2014/main" id="{4D3BD9B6-E51D-84AA-FAD5-99AD9BD3BEA0}"/>
              </a:ext>
            </a:extLst>
          </p:cNvPr>
          <p:cNvPicPr>
            <a:picLocks noChangeAspect="1"/>
          </p:cNvPicPr>
          <p:nvPr/>
        </p:nvPicPr>
        <p:blipFill>
          <a:blip r:embed="rId2"/>
          <a:stretch>
            <a:fillRect/>
          </a:stretch>
        </p:blipFill>
        <p:spPr>
          <a:xfrm>
            <a:off x="0" y="2852336"/>
            <a:ext cx="12192000" cy="3349201"/>
          </a:xfrm>
          <a:prstGeom prst="rect">
            <a:avLst/>
          </a:prstGeom>
        </p:spPr>
      </p:pic>
    </p:spTree>
    <p:extLst>
      <p:ext uri="{BB962C8B-B14F-4D97-AF65-F5344CB8AC3E}">
        <p14:creationId xmlns:p14="http://schemas.microsoft.com/office/powerpoint/2010/main" val="167617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1598CC-E9D8-46F1-A31D-21527BFD63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8097F3-07A2-631F-CDD1-76C438A5CFDF}"/>
              </a:ext>
            </a:extLst>
          </p:cNvPr>
          <p:cNvSpPr>
            <a:spLocks noGrp="1"/>
          </p:cNvSpPr>
          <p:nvPr>
            <p:ph type="title"/>
          </p:nvPr>
        </p:nvSpPr>
        <p:spPr>
          <a:xfrm>
            <a:off x="838201" y="365125"/>
            <a:ext cx="5393360" cy="1325563"/>
          </a:xfrm>
        </p:spPr>
        <p:txBody>
          <a:bodyPr>
            <a:normAutofit/>
          </a:bodyPr>
          <a:lstStyle/>
          <a:p>
            <a:r>
              <a:rPr lang="en-US">
                <a:ea typeface="等线 Light"/>
              </a:rPr>
              <a:t>About Combined dataset</a:t>
            </a:r>
            <a:endParaRPr lang="en-US"/>
          </a:p>
        </p:txBody>
      </p:sp>
      <p:sp>
        <p:nvSpPr>
          <p:cNvPr id="12" name="Freeform: Shape 11">
            <a:extLst>
              <a:ext uri="{FF2B5EF4-FFF2-40B4-BE49-F238E27FC236}">
                <a16:creationId xmlns:a16="http://schemas.microsoft.com/office/drawing/2014/main" id="{CB147A70-DC29-4DDF-A34C-2B82C6E22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9D7DAA2C-9A34-7557-B7F1-446B93D259CA}"/>
              </a:ext>
            </a:extLst>
          </p:cNvPr>
          <p:cNvSpPr>
            <a:spLocks noGrp="1"/>
          </p:cNvSpPr>
          <p:nvPr>
            <p:ph idx="1"/>
          </p:nvPr>
        </p:nvSpPr>
        <p:spPr>
          <a:xfrm>
            <a:off x="838200" y="1825625"/>
            <a:ext cx="5393361" cy="4351338"/>
          </a:xfrm>
        </p:spPr>
        <p:txBody>
          <a:bodyPr vert="horz" lIns="91440" tIns="45720" rIns="91440" bIns="45720" rtlCol="0">
            <a:normAutofit/>
          </a:bodyPr>
          <a:lstStyle/>
          <a:p>
            <a:r>
              <a:rPr lang="en-US" sz="2200">
                <a:ea typeface="等线"/>
              </a:rPr>
              <a:t>Contains 435352 observations, each</a:t>
            </a:r>
            <a:r>
              <a:rPr lang="en-US" sz="2200">
                <a:ea typeface="+mn-lt"/>
                <a:cs typeface="+mn-lt"/>
              </a:rPr>
              <a:t> row stands for one commercial flight departure</a:t>
            </a:r>
          </a:p>
          <a:p>
            <a:r>
              <a:rPr lang="en-US" sz="2200">
                <a:ea typeface="+mn-lt"/>
                <a:cs typeface="+mn-lt"/>
              </a:rPr>
              <a:t>After dropping repeated variables, 37 variables are in the dataset and are used for further variable selection procedure, which will be explained later</a:t>
            </a:r>
          </a:p>
          <a:p>
            <a:r>
              <a:rPr lang="en-US" sz="2200">
                <a:ea typeface="+mn-lt"/>
                <a:cs typeface="+mn-lt"/>
              </a:rPr>
              <a:t>Flights: single flight specific information</a:t>
            </a:r>
          </a:p>
          <a:p>
            <a:r>
              <a:rPr lang="en-US" sz="2200">
                <a:ea typeface="+mn-lt"/>
                <a:cs typeface="+mn-lt"/>
              </a:rPr>
              <a:t>Weather: hourly weather conditions at the three NYC airports throughout 2023, combined to flights using </a:t>
            </a:r>
          </a:p>
          <a:p>
            <a:r>
              <a:rPr lang="en-US" sz="2200">
                <a:ea typeface="+mn-lt"/>
                <a:cs typeface="+mn-lt"/>
              </a:rPr>
              <a:t>Planes: aircraft specific information</a:t>
            </a:r>
          </a:p>
          <a:p>
            <a:endParaRPr lang="en-US" sz="2200">
              <a:ea typeface="+mn-lt"/>
              <a:cs typeface="+mn-lt"/>
            </a:endParaRPr>
          </a:p>
          <a:p>
            <a:endParaRPr lang="en-US" sz="2200">
              <a:ea typeface="+mn-lt"/>
              <a:cs typeface="+mn-lt"/>
            </a:endParaRPr>
          </a:p>
        </p:txBody>
      </p:sp>
      <p:sp>
        <p:nvSpPr>
          <p:cNvPr id="14" name="Oval 13">
            <a:extLst>
              <a:ext uri="{FF2B5EF4-FFF2-40B4-BE49-F238E27FC236}">
                <a16:creationId xmlns:a16="http://schemas.microsoft.com/office/drawing/2014/main" id="{3B438362-1E1E-4C62-A99E-4134CB163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631"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phone&#10;&#10;AI-generated content may be incorrect.">
            <a:extLst>
              <a:ext uri="{FF2B5EF4-FFF2-40B4-BE49-F238E27FC236}">
                <a16:creationId xmlns:a16="http://schemas.microsoft.com/office/drawing/2014/main" id="{3959E99D-A16C-83D1-BC44-FB2F5ECBEF4E}"/>
              </a:ext>
            </a:extLst>
          </p:cNvPr>
          <p:cNvPicPr>
            <a:picLocks noChangeAspect="1"/>
          </p:cNvPicPr>
          <p:nvPr/>
        </p:nvPicPr>
        <p:blipFill>
          <a:blip r:embed="rId2"/>
          <a:stretch>
            <a:fillRect/>
          </a:stretch>
        </p:blipFill>
        <p:spPr>
          <a:xfrm>
            <a:off x="9405329" y="955735"/>
            <a:ext cx="1163391" cy="2789984"/>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p:spPr>
      </p:pic>
      <p:sp>
        <p:nvSpPr>
          <p:cNvPr id="16" name="Freeform: Shape 15">
            <a:extLst>
              <a:ext uri="{FF2B5EF4-FFF2-40B4-BE49-F238E27FC236}">
                <a16:creationId xmlns:a16="http://schemas.microsoft.com/office/drawing/2014/main" id="{6C077334-5571-4B83-A83E-4CCCFA7B5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0632" y="0"/>
            <a:ext cx="2093996" cy="1402773"/>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2F61ABFD-DE05-41FD-A6B7-6D40196C15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55865" y="1026771"/>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pic>
        <p:nvPicPr>
          <p:cNvPr id="4" name="Picture 3" descr="A screenshot of a phone&#10;&#10;AI-generated content may be incorrect.">
            <a:extLst>
              <a:ext uri="{FF2B5EF4-FFF2-40B4-BE49-F238E27FC236}">
                <a16:creationId xmlns:a16="http://schemas.microsoft.com/office/drawing/2014/main" id="{5A45EA82-ACC0-4536-5D82-C1675B3C0E40}"/>
              </a:ext>
            </a:extLst>
          </p:cNvPr>
          <p:cNvPicPr>
            <a:picLocks noChangeAspect="1"/>
          </p:cNvPicPr>
          <p:nvPr/>
        </p:nvPicPr>
        <p:blipFill>
          <a:blip r:embed="rId3"/>
          <a:stretch>
            <a:fillRect/>
          </a:stretch>
        </p:blipFill>
        <p:spPr>
          <a:xfrm>
            <a:off x="7154908" y="4596976"/>
            <a:ext cx="1578907" cy="2124499"/>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p:spPr>
      </p:pic>
      <p:sp>
        <p:nvSpPr>
          <p:cNvPr id="20" name="Freeform: Shape 19">
            <a:extLst>
              <a:ext uri="{FF2B5EF4-FFF2-40B4-BE49-F238E27FC236}">
                <a16:creationId xmlns:a16="http://schemas.microsoft.com/office/drawing/2014/main" id="{0F646DF8-223D-47DD-95B1-F2654229E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4D3DC50D-CA0F-48F9-B17E-20D8669AA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97791" y="402001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09621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1D61D1-76D8-E8D0-3004-08262FF4BB72}"/>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Modeling and Model Adjustment</a:t>
            </a:r>
          </a:p>
        </p:txBody>
      </p:sp>
      <p:pic>
        <p:nvPicPr>
          <p:cNvPr id="7" name="Graphic 6" descr="Head with Gears">
            <a:extLst>
              <a:ext uri="{FF2B5EF4-FFF2-40B4-BE49-F238E27FC236}">
                <a16:creationId xmlns:a16="http://schemas.microsoft.com/office/drawing/2014/main" id="{C05C9FF0-0116-3D83-9087-C25EED0528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79780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4DD2F-E5C1-6B97-AD15-CD1D6E2D3A19}"/>
              </a:ext>
            </a:extLst>
          </p:cNvPr>
          <p:cNvSpPr>
            <a:spLocks noGrp="1"/>
          </p:cNvSpPr>
          <p:nvPr>
            <p:ph type="title"/>
          </p:nvPr>
        </p:nvSpPr>
        <p:spPr>
          <a:xfrm>
            <a:off x="1371597" y="348865"/>
            <a:ext cx="10044023" cy="877729"/>
          </a:xfrm>
        </p:spPr>
        <p:txBody>
          <a:bodyPr anchor="ctr">
            <a:normAutofit/>
          </a:bodyPr>
          <a:lstStyle/>
          <a:p>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D25F8FB8-C379-748C-1E3A-CBC8FFFF8EED}"/>
              </a:ext>
            </a:extLst>
          </p:cNvPr>
          <p:cNvGraphicFramePr>
            <a:graphicFrameLocks noGrp="1"/>
          </p:cNvGraphicFramePr>
          <p:nvPr>
            <p:ph idx="1"/>
            <p:extLst>
              <p:ext uri="{D42A27DB-BD31-4B8C-83A1-F6EECF244321}">
                <p14:modId xmlns:p14="http://schemas.microsoft.com/office/powerpoint/2010/main" val="210412781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9685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标题 1">
            <a:extLst>
              <a:ext uri="{FF2B5EF4-FFF2-40B4-BE49-F238E27FC236}">
                <a16:creationId xmlns:a16="http://schemas.microsoft.com/office/drawing/2014/main" id="{DF8DCE0C-E1B3-396A-C658-6676DE9B8E3C}"/>
              </a:ext>
            </a:extLst>
          </p:cNvPr>
          <p:cNvSpPr>
            <a:spLocks noGrp="1"/>
          </p:cNvSpPr>
          <p:nvPr>
            <p:ph type="title"/>
          </p:nvPr>
        </p:nvSpPr>
        <p:spPr>
          <a:xfrm>
            <a:off x="786385" y="841248"/>
            <a:ext cx="5129600" cy="5340097"/>
          </a:xfrm>
        </p:spPr>
        <p:txBody>
          <a:bodyPr anchor="ctr">
            <a:normAutofit/>
          </a:bodyPr>
          <a:lstStyle/>
          <a:p>
            <a:r>
              <a:rPr lang="en-US" altLang="zh-CN" sz="4800">
                <a:solidFill>
                  <a:schemeClr val="bg1"/>
                </a:solidFill>
              </a:rPr>
              <a:t>Variables we used</a:t>
            </a:r>
            <a:endParaRPr lang="zh-CN" altLang="en-US" sz="4800">
              <a:solidFill>
                <a:schemeClr val="bg1"/>
              </a:solidFill>
            </a:endParaRPr>
          </a:p>
        </p:txBody>
      </p:sp>
      <p:sp>
        <p:nvSpPr>
          <p:cNvPr id="3" name="内容占位符 2">
            <a:extLst>
              <a:ext uri="{FF2B5EF4-FFF2-40B4-BE49-F238E27FC236}">
                <a16:creationId xmlns:a16="http://schemas.microsoft.com/office/drawing/2014/main" id="{4A26DC43-39B3-DBD6-875B-A3097A03E0D4}"/>
              </a:ext>
            </a:extLst>
          </p:cNvPr>
          <p:cNvSpPr>
            <a:spLocks noGrp="1"/>
          </p:cNvSpPr>
          <p:nvPr>
            <p:ph idx="1"/>
          </p:nvPr>
        </p:nvSpPr>
        <p:spPr>
          <a:xfrm>
            <a:off x="6464410" y="841247"/>
            <a:ext cx="4484536" cy="5340097"/>
          </a:xfrm>
        </p:spPr>
        <p:txBody>
          <a:bodyPr anchor="ctr">
            <a:normAutofit/>
          </a:bodyPr>
          <a:lstStyle/>
          <a:p>
            <a:r>
              <a:rPr lang="en-US" altLang="zh-CN" sz="1800">
                <a:solidFill>
                  <a:schemeClr val="tx2"/>
                </a:solidFill>
              </a:rPr>
              <a:t>Carrier: Airline carrier code.</a:t>
            </a:r>
          </a:p>
          <a:p>
            <a:r>
              <a:rPr lang="en-US" altLang="zh-CN" sz="1800">
                <a:solidFill>
                  <a:schemeClr val="tx2"/>
                </a:solidFill>
              </a:rPr>
              <a:t>Origin:Departure Airport</a:t>
            </a:r>
          </a:p>
          <a:p>
            <a:r>
              <a:rPr lang="en-US" altLang="zh-CN" sz="1800">
                <a:solidFill>
                  <a:schemeClr val="tx2"/>
                </a:solidFill>
              </a:rPr>
              <a:t>Hour: Schedule departure hour</a:t>
            </a:r>
          </a:p>
          <a:p>
            <a:r>
              <a:rPr lang="en-US" altLang="zh-CN" sz="1800">
                <a:solidFill>
                  <a:schemeClr val="tx2"/>
                </a:solidFill>
              </a:rPr>
              <a:t>Month: Flight month</a:t>
            </a:r>
          </a:p>
          <a:p>
            <a:r>
              <a:rPr lang="en-US" altLang="zh-CN" sz="1800">
                <a:solidFill>
                  <a:schemeClr val="tx2"/>
                </a:solidFill>
              </a:rPr>
              <a:t>Temp: Temperature at departure time</a:t>
            </a:r>
          </a:p>
          <a:p>
            <a:r>
              <a:rPr lang="en-US" altLang="zh-CN" sz="1800">
                <a:solidFill>
                  <a:schemeClr val="tx2"/>
                </a:solidFill>
              </a:rPr>
              <a:t>Humid:Humidity level</a:t>
            </a:r>
          </a:p>
          <a:p>
            <a:r>
              <a:rPr lang="en-US" altLang="zh-CN" sz="1800">
                <a:solidFill>
                  <a:schemeClr val="tx2"/>
                </a:solidFill>
              </a:rPr>
              <a:t>Wind speed: Wind speed</a:t>
            </a:r>
          </a:p>
          <a:p>
            <a:r>
              <a:rPr lang="en-US" altLang="zh-CN" sz="1800">
                <a:solidFill>
                  <a:schemeClr val="tx2"/>
                </a:solidFill>
              </a:rPr>
              <a:t>Precip: Precipitation amount</a:t>
            </a:r>
          </a:p>
          <a:p>
            <a:r>
              <a:rPr lang="en-US" altLang="zh-CN" sz="1800">
                <a:solidFill>
                  <a:schemeClr val="tx2"/>
                </a:solidFill>
              </a:rPr>
              <a:t>Visibility:Visibility </a:t>
            </a:r>
          </a:p>
          <a:p>
            <a:r>
              <a:rPr lang="en-US" altLang="zh-CN" sz="1800">
                <a:solidFill>
                  <a:schemeClr val="tx2"/>
                </a:solidFill>
              </a:rPr>
              <a:t>Model: Aircraft plane model.</a:t>
            </a:r>
          </a:p>
        </p:txBody>
      </p:sp>
    </p:spTree>
    <p:extLst>
      <p:ext uri="{BB962C8B-B14F-4D97-AF65-F5344CB8AC3E}">
        <p14:creationId xmlns:p14="http://schemas.microsoft.com/office/powerpoint/2010/main" val="761443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8AA4DB-7E5E-4B73-3630-66EAA8920A1F}"/>
              </a:ext>
            </a:extLst>
          </p:cNvPr>
          <p:cNvSpPr>
            <a:spLocks noGrp="1"/>
          </p:cNvSpPr>
          <p:nvPr>
            <p:ph type="title"/>
          </p:nvPr>
        </p:nvSpPr>
        <p:spPr>
          <a:xfrm>
            <a:off x="1046746" y="586822"/>
            <a:ext cx="3560252" cy="1645920"/>
          </a:xfrm>
        </p:spPr>
        <p:txBody>
          <a:bodyPr>
            <a:normAutofit/>
          </a:bodyPr>
          <a:lstStyle/>
          <a:p>
            <a:r>
              <a:rPr lang="en-US" sz="3200">
                <a:ea typeface="等线 Light"/>
              </a:rPr>
              <a:t>AIC Selection</a:t>
            </a:r>
            <a:endParaRPr lang="en-US" sz="3200"/>
          </a:p>
        </p:txBody>
      </p:sp>
      <p:sp>
        <p:nvSpPr>
          <p:cNvPr id="13" name="Rectangle 12">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83DBD4A-B626-21B0-49BA-C66C16C02D19}"/>
              </a:ext>
            </a:extLst>
          </p:cNvPr>
          <p:cNvSpPr>
            <a:spLocks noGrp="1"/>
          </p:cNvSpPr>
          <p:nvPr>
            <p:ph idx="1"/>
          </p:nvPr>
        </p:nvSpPr>
        <p:spPr>
          <a:xfrm>
            <a:off x="5351164" y="586822"/>
            <a:ext cx="6002636" cy="1645920"/>
          </a:xfrm>
        </p:spPr>
        <p:txBody>
          <a:bodyPr vert="horz" lIns="91440" tIns="45720" rIns="91440" bIns="45720" rtlCol="0" anchor="ctr">
            <a:normAutofit/>
          </a:bodyPr>
          <a:lstStyle/>
          <a:p>
            <a:r>
              <a:rPr lang="en-US" sz="1800">
                <a:ea typeface="等线"/>
              </a:rPr>
              <a:t>AIC comparison: </a:t>
            </a:r>
            <a:r>
              <a:rPr lang="en-US" sz="1800">
                <a:ea typeface="+mn-lt"/>
                <a:cs typeface="+mn-lt"/>
              </a:rPr>
              <a:t>Used AIC to evaluate model performance. Lower AIC = better balance of fit and complexity</a:t>
            </a:r>
            <a:endParaRPr lang="en-US" sz="1800">
              <a:ea typeface="等线"/>
            </a:endParaRPr>
          </a:p>
          <a:p>
            <a:endParaRPr lang="en-US" sz="1800">
              <a:ea typeface="等线"/>
            </a:endParaRPr>
          </a:p>
        </p:txBody>
      </p:sp>
      <p:pic>
        <p:nvPicPr>
          <p:cNvPr id="4" name="图片 3" descr="图形用户界面, 应用程序&#10;&#10;AI 生成的内容可能不正确。">
            <a:extLst>
              <a:ext uri="{FF2B5EF4-FFF2-40B4-BE49-F238E27FC236}">
                <a16:creationId xmlns:a16="http://schemas.microsoft.com/office/drawing/2014/main" id="{885897F3-687E-8D25-6D3E-E760AE4C6185}"/>
              </a:ext>
            </a:extLst>
          </p:cNvPr>
          <p:cNvPicPr>
            <a:picLocks noChangeAspect="1"/>
          </p:cNvPicPr>
          <p:nvPr/>
        </p:nvPicPr>
        <p:blipFill>
          <a:blip r:embed="rId2"/>
          <a:stretch>
            <a:fillRect/>
          </a:stretch>
        </p:blipFill>
        <p:spPr>
          <a:xfrm>
            <a:off x="557784" y="2745440"/>
            <a:ext cx="11164824" cy="3461095"/>
          </a:xfrm>
          <a:prstGeom prst="rect">
            <a:avLst/>
          </a:prstGeom>
        </p:spPr>
      </p:pic>
    </p:spTree>
    <p:extLst>
      <p:ext uri="{BB962C8B-B14F-4D97-AF65-F5344CB8AC3E}">
        <p14:creationId xmlns:p14="http://schemas.microsoft.com/office/powerpoint/2010/main" val="630057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267513-8C14-BF2B-FACB-733B2C148235}"/>
              </a:ext>
            </a:extLst>
          </p:cNvPr>
          <p:cNvSpPr>
            <a:spLocks noGrp="1"/>
          </p:cNvSpPr>
          <p:nvPr>
            <p:ph type="title"/>
          </p:nvPr>
        </p:nvSpPr>
        <p:spPr>
          <a:xfrm>
            <a:off x="793662" y="386930"/>
            <a:ext cx="10066122" cy="1298448"/>
          </a:xfrm>
        </p:spPr>
        <p:txBody>
          <a:bodyPr anchor="b">
            <a:normAutofit/>
          </a:bodyPr>
          <a:lstStyle/>
          <a:p>
            <a:r>
              <a:rPr lang="en-US" sz="4800">
                <a:ea typeface="+mj-lt"/>
                <a:cs typeface="+mj-lt"/>
              </a:rPr>
              <a:t>Final Model Insights</a:t>
            </a:r>
            <a:endParaRPr lang="zh-CN" altLang="en-US" sz="4800"/>
          </a:p>
        </p:txBody>
      </p:sp>
      <p:sp>
        <p:nvSpPr>
          <p:cNvPr id="37" name="Rectangle 3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
            <a:extLst>
              <a:ext uri="{FF2B5EF4-FFF2-40B4-BE49-F238E27FC236}">
                <a16:creationId xmlns:a16="http://schemas.microsoft.com/office/drawing/2014/main" id="{7DDB9627-6FA7-7A6C-6EF7-897AA78B136F}"/>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1400">
                <a:ea typeface="+mn-lt"/>
                <a:cs typeface="+mn-lt"/>
              </a:rPr>
              <a:t>Aircraft type contributes additional predictive power.</a:t>
            </a:r>
          </a:p>
          <a:p>
            <a:r>
              <a:rPr lang="en-US" sz="1400">
                <a:ea typeface="+mn-lt"/>
                <a:cs typeface="+mn-lt"/>
              </a:rPr>
              <a:t>Weather conditions (e.g., visibility, wind) have measurable effects</a:t>
            </a:r>
          </a:p>
          <a:p>
            <a:endParaRPr lang="en-US" sz="1400">
              <a:ea typeface="+mn-lt"/>
              <a:cs typeface="+mn-lt"/>
            </a:endParaRPr>
          </a:p>
          <a:p>
            <a:r>
              <a:rPr lang="en-US" sz="1400">
                <a:ea typeface="+mn-lt"/>
                <a:cs typeface="+mn-lt"/>
              </a:rPr>
              <a:t>The final logistic regression model achieved an AUC of 0.7101, indicating acceptable predictive performance. This suggests that the model is capable of correctly distinguishing between delayed and non-delayed flights approximately 71% of the time. Compared to a baseline model, this reflects a meaningful improvement in predictive accuracy.</a:t>
            </a:r>
          </a:p>
          <a:p>
            <a:endParaRPr lang="en-US" sz="1400">
              <a:ea typeface="+mn-lt"/>
              <a:cs typeface="+mn-lt"/>
            </a:endParaRPr>
          </a:p>
          <a:p>
            <a:r>
              <a:rPr lang="en-US" sz="1400">
                <a:ea typeface="+mn-lt"/>
                <a:cs typeface="+mn-lt"/>
              </a:rPr>
              <a:t>Flight delays are influenced by a </a:t>
            </a:r>
            <a:r>
              <a:rPr lang="en-US" sz="1400" b="1">
                <a:ea typeface="+mn-lt"/>
                <a:cs typeface="+mn-lt"/>
              </a:rPr>
              <a:t>combination of factors</a:t>
            </a:r>
            <a:r>
              <a:rPr lang="en-US" sz="1400">
                <a:ea typeface="+mn-lt"/>
                <a:cs typeface="+mn-lt"/>
              </a:rPr>
              <a:t> </a:t>
            </a:r>
          </a:p>
          <a:p>
            <a:pPr marL="0" indent="0">
              <a:buNone/>
            </a:pPr>
            <a:endParaRPr lang="en-US" sz="1400">
              <a:ea typeface="等线" panose="02110004020202020204"/>
            </a:endParaRPr>
          </a:p>
          <a:p>
            <a:endParaRPr lang="en-US" sz="1400">
              <a:ea typeface="+mn-lt"/>
              <a:cs typeface="+mn-lt"/>
            </a:endParaRPr>
          </a:p>
        </p:txBody>
      </p:sp>
      <p:pic>
        <p:nvPicPr>
          <p:cNvPr id="25" name="图片 24" descr="图示&#10;&#10;AI 生成的内容可能不正确。">
            <a:extLst>
              <a:ext uri="{FF2B5EF4-FFF2-40B4-BE49-F238E27FC236}">
                <a16:creationId xmlns:a16="http://schemas.microsoft.com/office/drawing/2014/main" id="{FFC45BBD-3430-9027-E76B-C96EFBD4A18D}"/>
              </a:ext>
            </a:extLst>
          </p:cNvPr>
          <p:cNvPicPr>
            <a:picLocks noChangeAspect="1"/>
          </p:cNvPicPr>
          <p:nvPr/>
        </p:nvPicPr>
        <p:blipFill>
          <a:blip r:embed="rId2"/>
          <a:stretch>
            <a:fillRect/>
          </a:stretch>
        </p:blipFill>
        <p:spPr>
          <a:xfrm>
            <a:off x="5911532" y="2770543"/>
            <a:ext cx="5150277" cy="3141668"/>
          </a:xfrm>
          <a:prstGeom prst="rect">
            <a:avLst/>
          </a:prstGeom>
        </p:spPr>
      </p:pic>
      <p:sp>
        <p:nvSpPr>
          <p:cNvPr id="41" name="Rectangle 4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9235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48076-766A-3E09-C830-A1E70C81D9F7}"/>
              </a:ext>
            </a:extLst>
          </p:cNvPr>
          <p:cNvSpPr>
            <a:spLocks noGrp="1"/>
          </p:cNvSpPr>
          <p:nvPr>
            <p:ph type="title"/>
          </p:nvPr>
        </p:nvSpPr>
        <p:spPr/>
        <p:txBody>
          <a:bodyPr/>
          <a:lstStyle/>
          <a:p>
            <a:r>
              <a:rPr lang="en-US">
                <a:ea typeface="+mj-lt"/>
                <a:cs typeface="+mj-lt"/>
              </a:rPr>
              <a:t>Likelihood Ratio Test to check if model variable should be added</a:t>
            </a:r>
            <a:endParaRPr lang="en-US"/>
          </a:p>
        </p:txBody>
      </p:sp>
      <p:pic>
        <p:nvPicPr>
          <p:cNvPr id="4" name="Content Placeholder 3" descr="A white background with black text&#10;&#10;AI-generated content may be incorrect.">
            <a:extLst>
              <a:ext uri="{FF2B5EF4-FFF2-40B4-BE49-F238E27FC236}">
                <a16:creationId xmlns:a16="http://schemas.microsoft.com/office/drawing/2014/main" id="{678C2E6C-9DEA-EAB9-C42E-C955E289234F}"/>
              </a:ext>
            </a:extLst>
          </p:cNvPr>
          <p:cNvPicPr>
            <a:picLocks noGrp="1" noChangeAspect="1"/>
          </p:cNvPicPr>
          <p:nvPr>
            <p:ph idx="1"/>
          </p:nvPr>
        </p:nvPicPr>
        <p:blipFill>
          <a:blip r:embed="rId2"/>
          <a:stretch>
            <a:fillRect/>
          </a:stretch>
        </p:blipFill>
        <p:spPr>
          <a:xfrm>
            <a:off x="990600" y="2296319"/>
            <a:ext cx="10210800" cy="3409950"/>
          </a:xfrm>
          <a:prstGeom prst="rect">
            <a:avLst/>
          </a:prstGeom>
        </p:spPr>
      </p:pic>
    </p:spTree>
    <p:extLst>
      <p:ext uri="{BB962C8B-B14F-4D97-AF65-F5344CB8AC3E}">
        <p14:creationId xmlns:p14="http://schemas.microsoft.com/office/powerpoint/2010/main" val="2214474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7" name="Rectangle 96">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Shape 98">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标题 1">
            <a:extLst>
              <a:ext uri="{FF2B5EF4-FFF2-40B4-BE49-F238E27FC236}">
                <a16:creationId xmlns:a16="http://schemas.microsoft.com/office/drawing/2014/main" id="{14270753-D5BC-C1BD-8835-FA46C1C55CBB}"/>
              </a:ext>
            </a:extLst>
          </p:cNvPr>
          <p:cNvSpPr>
            <a:spLocks noGrp="1"/>
          </p:cNvSpPr>
          <p:nvPr>
            <p:ph type="title"/>
          </p:nvPr>
        </p:nvSpPr>
        <p:spPr>
          <a:xfrm>
            <a:off x="1137034" y="609600"/>
            <a:ext cx="4784796" cy="1330840"/>
          </a:xfrm>
        </p:spPr>
        <p:txBody>
          <a:bodyPr>
            <a:normAutofit/>
          </a:bodyPr>
          <a:lstStyle/>
          <a:p>
            <a:r>
              <a:rPr lang="en-US" altLang="zh-CN"/>
              <a:t>Initial Correlations</a:t>
            </a:r>
            <a:endParaRPr lang="zh-CN" altLang="en-US"/>
          </a:p>
        </p:txBody>
      </p:sp>
      <p:sp>
        <p:nvSpPr>
          <p:cNvPr id="6" name="Rectangle 1">
            <a:extLst>
              <a:ext uri="{FF2B5EF4-FFF2-40B4-BE49-F238E27FC236}">
                <a16:creationId xmlns:a16="http://schemas.microsoft.com/office/drawing/2014/main" id="{FB2AFEB9-D5D2-7343-7F8B-68CFA7C2A111}"/>
              </a:ext>
            </a:extLst>
          </p:cNvPr>
          <p:cNvSpPr>
            <a:spLocks noGrp="1" noChangeArrowheads="1"/>
          </p:cNvSpPr>
          <p:nvPr>
            <p:ph idx="1"/>
          </p:nvPr>
        </p:nvSpPr>
        <p:spPr bwMode="auto">
          <a:xfrm>
            <a:off x="1137034" y="2194102"/>
            <a:ext cx="4438036" cy="390858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zh-CN" altLang="zh-CN" sz="2000" b="0" i="0" u="none" strike="noStrike" cap="none" normalizeH="0" baseline="0">
              <a:ln>
                <a:noFill/>
              </a:ln>
              <a:effectLst/>
              <a:latin typeface="Arial" panose="020B0604020202020204" pitchFamily="34" charset="0"/>
            </a:endParaRPr>
          </a:p>
          <a:p>
            <a:pPr marL="0" indent="0">
              <a:spcBef>
                <a:spcPct val="0"/>
              </a:spcBef>
              <a:spcAft>
                <a:spcPts val="600"/>
              </a:spcAft>
              <a:buFont typeface="Arial"/>
              <a:buChar char="•"/>
            </a:pPr>
            <a:r>
              <a:rPr lang="af-ZA" altLang="zh-CN" sz="2000" b="0" i="0" u="none" strike="noStrike">
                <a:effectLst/>
                <a:latin typeface="quote-cjk-patch"/>
              </a:rPr>
              <a:t>From the predictor-only correlation matrix, we can see that several environmental and temporal variables are strongly intercorrelated, with correlations approaching 0.75–1.00, particularly between temperature and month, as well as between humidity and precipitation. </a:t>
            </a:r>
            <a:r>
              <a:rPr lang="en-US" altLang="zh-CN" sz="2000" b="0" i="0" u="none" strike="noStrike">
                <a:effectLst/>
                <a:latin typeface="quote-cjk-patch"/>
              </a:rPr>
              <a:t>V</a:t>
            </a:r>
            <a:r>
              <a:rPr lang="af-ZA" altLang="zh-CN" sz="2000" b="0" i="0" u="none" strike="noStrike">
                <a:effectLst/>
                <a:latin typeface="quote-cjk-patch"/>
              </a:rPr>
              <a:t>ariables such as hour and month show near-zero correlations, suggesting they provide relatively unique information. </a:t>
            </a:r>
            <a:endParaRPr lang="zh-CN" sz="2000"/>
          </a:p>
        </p:txBody>
      </p:sp>
      <p:pic>
        <p:nvPicPr>
          <p:cNvPr id="5" name="图片 4" descr="图表&#10;&#10;AI 生成的内容可能不正确。">
            <a:extLst>
              <a:ext uri="{FF2B5EF4-FFF2-40B4-BE49-F238E27FC236}">
                <a16:creationId xmlns:a16="http://schemas.microsoft.com/office/drawing/2014/main" id="{F8582953-64FD-C4E5-EAE8-FAC8C07C426D}"/>
              </a:ext>
            </a:extLst>
          </p:cNvPr>
          <p:cNvPicPr>
            <a:picLocks noChangeAspect="1"/>
          </p:cNvPicPr>
          <p:nvPr/>
        </p:nvPicPr>
        <p:blipFill>
          <a:blip r:embed="rId3"/>
          <a:stretch>
            <a:fillRect/>
          </a:stretch>
        </p:blipFill>
        <p:spPr>
          <a:xfrm>
            <a:off x="6880610" y="1521359"/>
            <a:ext cx="4737650" cy="3837496"/>
          </a:xfrm>
          <a:prstGeom prst="rect">
            <a:avLst/>
          </a:prstGeom>
        </p:spPr>
      </p:pic>
    </p:spTree>
    <p:extLst>
      <p:ext uri="{BB962C8B-B14F-4D97-AF65-F5344CB8AC3E}">
        <p14:creationId xmlns:p14="http://schemas.microsoft.com/office/powerpoint/2010/main" val="1401016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6486D-F952-880B-8B6D-0F8FE49A6B8F}"/>
              </a:ext>
            </a:extLst>
          </p:cNvPr>
          <p:cNvSpPr>
            <a:spLocks noGrp="1"/>
          </p:cNvSpPr>
          <p:nvPr>
            <p:ph type="title"/>
          </p:nvPr>
        </p:nvSpPr>
        <p:spPr>
          <a:noFill/>
        </p:spPr>
        <p:txBody>
          <a:bodyPr vert="horz" lIns="91440" tIns="45720" rIns="91440" bIns="45720" rtlCol="0" anchor="ctr">
            <a:normAutofit/>
          </a:bodyPr>
          <a:lstStyle/>
          <a:p>
            <a:pPr algn="ctr"/>
            <a:r>
              <a:rPr lang="en-US" altLang="zh-CN" sz="3600">
                <a:ea typeface="等线 Light"/>
              </a:rPr>
              <a:t>VIF check</a:t>
            </a:r>
            <a:endParaRPr lang="en-US" altLang="zh-CN" sz="3600" kern="1200">
              <a:latin typeface="+mj-lt"/>
              <a:ea typeface="等线 Light"/>
            </a:endParaRPr>
          </a:p>
        </p:txBody>
      </p:sp>
      <p:pic>
        <p:nvPicPr>
          <p:cNvPr id="6" name="内容占位符 5" descr="表格&#10;&#10;AI 生成的内容可能不正确。">
            <a:extLst>
              <a:ext uri="{FF2B5EF4-FFF2-40B4-BE49-F238E27FC236}">
                <a16:creationId xmlns:a16="http://schemas.microsoft.com/office/drawing/2014/main" id="{4D5C6E7E-C2B9-FBE5-852A-F969CCD7C7CD}"/>
              </a:ext>
            </a:extLst>
          </p:cNvPr>
          <p:cNvPicPr>
            <a:picLocks noGrp="1" noChangeAspect="1"/>
          </p:cNvPicPr>
          <p:nvPr>
            <p:ph sz="half" idx="1"/>
          </p:nvPr>
        </p:nvPicPr>
        <p:blipFill>
          <a:blip r:embed="rId2"/>
          <a:stretch>
            <a:fillRect/>
          </a:stretch>
        </p:blipFill>
        <p:spPr>
          <a:xfrm>
            <a:off x="838200" y="2010469"/>
            <a:ext cx="5181600" cy="3981650"/>
          </a:xfrm>
          <a:prstGeom prst="rect">
            <a:avLst/>
          </a:prstGeom>
        </p:spPr>
      </p:pic>
      <p:sp>
        <p:nvSpPr>
          <p:cNvPr id="8" name="内容占位符 7">
            <a:extLst>
              <a:ext uri="{FF2B5EF4-FFF2-40B4-BE49-F238E27FC236}">
                <a16:creationId xmlns:a16="http://schemas.microsoft.com/office/drawing/2014/main" id="{911AA7BA-B57F-8864-A02A-8B13255FC135}"/>
              </a:ext>
            </a:extLst>
          </p:cNvPr>
          <p:cNvSpPr>
            <a:spLocks noGrp="1"/>
          </p:cNvSpPr>
          <p:nvPr>
            <p:ph sz="half" idx="2"/>
          </p:nvPr>
        </p:nvSpPr>
        <p:spPr/>
        <p:txBody>
          <a:bodyPr vert="horz" lIns="91440" tIns="45720" rIns="91440" bIns="45720" rtlCol="0" anchor="t">
            <a:normAutofit lnSpcReduction="10000"/>
          </a:bodyPr>
          <a:lstStyle/>
          <a:p>
            <a:r>
              <a:rPr lang="zh-CN">
                <a:ea typeface="+mn-lt"/>
                <a:cs typeface="+mn-lt"/>
              </a:rPr>
              <a:t>The Variance Inflation Factor analysis indicates that all predictors in the final model have adjusted values close to 1, suggesting that multicollinearity is not a concern. This confirms that the included operational, weather, and aircraft variables provide largely independent information for predicting departure delays.</a:t>
            </a:r>
            <a:endParaRPr lang="zh-CN" altLang="en-US"/>
          </a:p>
        </p:txBody>
      </p:sp>
    </p:spTree>
    <p:extLst>
      <p:ext uri="{BB962C8B-B14F-4D97-AF65-F5344CB8AC3E}">
        <p14:creationId xmlns:p14="http://schemas.microsoft.com/office/powerpoint/2010/main" val="33066045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AB6B49-0FD3-4CEA-E864-F7E293CEE385}"/>
              </a:ext>
            </a:extLst>
          </p:cNvPr>
          <p:cNvSpPr>
            <a:spLocks noGrp="1"/>
          </p:cNvSpPr>
          <p:nvPr>
            <p:ph type="title"/>
          </p:nvPr>
        </p:nvSpPr>
        <p:spPr>
          <a:xfrm>
            <a:off x="1285240" y="1050595"/>
            <a:ext cx="8074815" cy="1618489"/>
          </a:xfrm>
        </p:spPr>
        <p:txBody>
          <a:bodyPr anchor="ctr">
            <a:normAutofit/>
          </a:bodyPr>
          <a:lstStyle/>
          <a:p>
            <a:r>
              <a:rPr lang="en-US" sz="7200">
                <a:ea typeface="等线 Light"/>
              </a:rPr>
              <a:t>Leverage Check</a:t>
            </a:r>
            <a:endParaRPr lang="en-US" sz="7200"/>
          </a:p>
        </p:txBody>
      </p:sp>
      <p:sp>
        <p:nvSpPr>
          <p:cNvPr id="3" name="Content Placeholder 2">
            <a:extLst>
              <a:ext uri="{FF2B5EF4-FFF2-40B4-BE49-F238E27FC236}">
                <a16:creationId xmlns:a16="http://schemas.microsoft.com/office/drawing/2014/main" id="{10D3A76A-D4AB-2ABA-231D-2848CFABE393}"/>
              </a:ext>
            </a:extLst>
          </p:cNvPr>
          <p:cNvSpPr>
            <a:spLocks noGrp="1"/>
          </p:cNvSpPr>
          <p:nvPr>
            <p:ph idx="1"/>
          </p:nvPr>
        </p:nvSpPr>
        <p:spPr>
          <a:xfrm>
            <a:off x="1285240" y="2969469"/>
            <a:ext cx="8074815" cy="2800395"/>
          </a:xfrm>
        </p:spPr>
        <p:txBody>
          <a:bodyPr vert="horz" lIns="91440" tIns="45720" rIns="91440" bIns="45720" rtlCol="0" anchor="t">
            <a:normAutofit/>
          </a:bodyPr>
          <a:lstStyle/>
          <a:p>
            <a:r>
              <a:rPr lang="en-US" sz="2400">
                <a:highlight>
                  <a:srgbClr val="FFFFFF"/>
                </a:highlight>
                <a:ea typeface="+mn-lt"/>
                <a:cs typeface="+mn-lt"/>
              </a:rPr>
              <a:t>Leverage values are very low (roughly </a:t>
            </a:r>
            <a:r>
              <a:rPr lang="en-US" sz="2400" b="1">
                <a:highlight>
                  <a:srgbClr val="FFFFFF"/>
                </a:highlight>
                <a:ea typeface="+mn-lt"/>
                <a:cs typeface="+mn-lt"/>
              </a:rPr>
              <a:t>0.000 to 0.014</a:t>
            </a:r>
            <a:r>
              <a:rPr lang="en-US" sz="2400">
                <a:highlight>
                  <a:srgbClr val="FFFFFF"/>
                </a:highlight>
                <a:ea typeface="+mn-lt"/>
                <a:cs typeface="+mn-lt"/>
              </a:rPr>
              <a:t>).</a:t>
            </a:r>
            <a:endParaRPr lang="en-US" sz="2400">
              <a:ea typeface="等线" panose="02110004020202020204"/>
            </a:endParaRPr>
          </a:p>
          <a:p>
            <a:r>
              <a:rPr lang="en-US" sz="2400">
                <a:highlight>
                  <a:srgbClr val="FFFFFF"/>
                </a:highlight>
                <a:ea typeface="+mn-lt"/>
                <a:cs typeface="+mn-lt"/>
              </a:rPr>
              <a:t>The red dashed Cook’s distance curves (likely for levels like 0.5, 1.0) are </a:t>
            </a:r>
            <a:r>
              <a:rPr lang="en-US" sz="2400" b="1">
                <a:highlight>
                  <a:srgbClr val="FFFFFF"/>
                </a:highlight>
                <a:ea typeface="+mn-lt"/>
                <a:cs typeface="+mn-lt"/>
              </a:rPr>
              <a:t>not crossed</a:t>
            </a:r>
            <a:r>
              <a:rPr lang="en-US" sz="2400">
                <a:highlight>
                  <a:srgbClr val="FFFFFF"/>
                </a:highlight>
                <a:ea typeface="+mn-lt"/>
                <a:cs typeface="+mn-lt"/>
              </a:rPr>
              <a:t> by any point.</a:t>
            </a:r>
            <a:endParaRPr lang="en-US" sz="2400">
              <a:ea typeface="等线"/>
            </a:endParaRPr>
          </a:p>
          <a:p>
            <a:r>
              <a:rPr lang="en-US" sz="2400">
                <a:highlight>
                  <a:srgbClr val="FFFFFF"/>
                </a:highlight>
                <a:ea typeface="+mn-lt"/>
                <a:cs typeface="+mn-lt"/>
              </a:rPr>
              <a:t>Most points lie within </a:t>
            </a:r>
            <a:r>
              <a:rPr lang="en-US" sz="2400" b="1">
                <a:highlight>
                  <a:srgbClr val="FFFFFF"/>
                </a:highlight>
                <a:ea typeface="+mn-lt"/>
                <a:cs typeface="+mn-lt"/>
              </a:rPr>
              <a:t>-2 to +2</a:t>
            </a:r>
            <a:r>
              <a:rPr lang="en-US" sz="2400">
                <a:highlight>
                  <a:srgbClr val="FFFFFF"/>
                </a:highlight>
                <a:ea typeface="+mn-lt"/>
                <a:cs typeface="+mn-lt"/>
              </a:rPr>
              <a:t>, which is acceptable.</a:t>
            </a:r>
            <a:endParaRPr lang="en-US" sz="2400">
              <a:ea typeface="等线"/>
            </a:endParaRPr>
          </a:p>
          <a:p>
            <a:endParaRPr lang="en-US" sz="2400">
              <a:ea typeface="等线"/>
            </a:endParaRPr>
          </a:p>
        </p:txBody>
      </p:sp>
    </p:spTree>
    <p:extLst>
      <p:ext uri="{BB962C8B-B14F-4D97-AF65-F5344CB8AC3E}">
        <p14:creationId xmlns:p14="http://schemas.microsoft.com/office/powerpoint/2010/main" val="3616408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Magnifying glass showing decling performance">
            <a:extLst>
              <a:ext uri="{FF2B5EF4-FFF2-40B4-BE49-F238E27FC236}">
                <a16:creationId xmlns:a16="http://schemas.microsoft.com/office/drawing/2014/main" id="{07154852-DB0D-B41E-1D69-480EC28EEF59}"/>
              </a:ext>
            </a:extLst>
          </p:cNvPr>
          <p:cNvPicPr>
            <a:picLocks noChangeAspect="1"/>
          </p:cNvPicPr>
          <p:nvPr/>
        </p:nvPicPr>
        <p:blipFill>
          <a:blip r:embed="rId2"/>
          <a:srcRect l="6024" r="-3" b="-3"/>
          <a:stretch>
            <a:fillRect/>
          </a:stretch>
        </p:blipFill>
        <p:spPr>
          <a:xfrm>
            <a:off x="2522358" y="10"/>
            <a:ext cx="9669642" cy="6857990"/>
          </a:xfrm>
          <a:prstGeom prst="rect">
            <a:avLst/>
          </a:prstGeom>
        </p:spPr>
      </p:pic>
      <p:sp>
        <p:nvSpPr>
          <p:cNvPr id="11" name="Rectangle 10">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tx1"/>
              </a:gs>
              <a:gs pos="35000">
                <a:schemeClr val="tx1">
                  <a:alpha val="77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746246-6D59-3F8D-F03C-F264F26D08AE}"/>
              </a:ext>
            </a:extLst>
          </p:cNvPr>
          <p:cNvSpPr>
            <a:spLocks noGrp="1"/>
          </p:cNvSpPr>
          <p:nvPr>
            <p:ph type="title"/>
          </p:nvPr>
        </p:nvSpPr>
        <p:spPr>
          <a:xfrm>
            <a:off x="952228" y="743447"/>
            <a:ext cx="3973385" cy="3692028"/>
          </a:xfrm>
          <a:noFill/>
        </p:spPr>
        <p:txBody>
          <a:bodyPr vert="horz" lIns="91440" tIns="45720" rIns="91440" bIns="45720" rtlCol="0" anchor="b">
            <a:normAutofit/>
          </a:bodyPr>
          <a:lstStyle/>
          <a:p>
            <a:r>
              <a:rPr lang="en-US" sz="5200">
                <a:solidFill>
                  <a:schemeClr val="bg1"/>
                </a:solidFill>
              </a:rPr>
              <a:t>Analysis, Interpretation and Conclusion</a:t>
            </a:r>
          </a:p>
        </p:txBody>
      </p:sp>
    </p:spTree>
    <p:extLst>
      <p:ext uri="{BB962C8B-B14F-4D97-AF65-F5344CB8AC3E}">
        <p14:creationId xmlns:p14="http://schemas.microsoft.com/office/powerpoint/2010/main" val="3693833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52B4C1-5330-2C66-0F59-93F6EC20948C}"/>
              </a:ext>
            </a:extLst>
          </p:cNvPr>
          <p:cNvSpPr>
            <a:spLocks noGrp="1"/>
          </p:cNvSpPr>
          <p:nvPr>
            <p:ph type="title"/>
          </p:nvPr>
        </p:nvSpPr>
        <p:spPr>
          <a:xfrm>
            <a:off x="793662" y="386930"/>
            <a:ext cx="10066122" cy="1298448"/>
          </a:xfrm>
        </p:spPr>
        <p:txBody>
          <a:bodyPr anchor="b">
            <a:normAutofit/>
          </a:bodyPr>
          <a:lstStyle/>
          <a:p>
            <a:r>
              <a:rPr lang="en-US">
                <a:ea typeface="等线 Light"/>
              </a:rPr>
              <a:t>Final Model and Why This Makes Sense?</a:t>
            </a:r>
            <a:endParaRPr lang="en-US"/>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24112E4-5720-38B8-B2A4-189D151FCE59}"/>
              </a:ext>
            </a:extLst>
          </p:cNvPr>
          <p:cNvSpPr>
            <a:spLocks noGrp="1"/>
          </p:cNvSpPr>
          <p:nvPr>
            <p:ph idx="1"/>
          </p:nvPr>
        </p:nvSpPr>
        <p:spPr>
          <a:xfrm>
            <a:off x="793661" y="2599509"/>
            <a:ext cx="4530898" cy="3639450"/>
          </a:xfrm>
        </p:spPr>
        <p:txBody>
          <a:bodyPr vert="horz" lIns="91440" tIns="45720" rIns="91440" bIns="45720" rtlCol="0" anchor="ctr">
            <a:normAutofit lnSpcReduction="10000"/>
          </a:bodyPr>
          <a:lstStyle/>
          <a:p>
            <a:r>
              <a:rPr lang="en-US" sz="1900">
                <a:ea typeface="等线"/>
              </a:rPr>
              <a:t>Our final model includes: </a:t>
            </a:r>
            <a:r>
              <a:rPr lang="en-US" sz="1900">
                <a:ea typeface="+mn-lt"/>
                <a:cs typeface="+mn-lt"/>
              </a:rPr>
              <a:t>Time factors (hour, month)+Airline &amp; airport (carrier, origin)+Weather variables (temp, wind, visibility, etc.)+Aircraft model</a:t>
            </a:r>
            <a:endParaRPr lang="en-US" sz="1900">
              <a:ea typeface="等线" panose="02110004020202020204"/>
            </a:endParaRPr>
          </a:p>
          <a:p>
            <a:r>
              <a:rPr lang="en-US" sz="1900">
                <a:ea typeface="等线" panose="02110004020202020204"/>
              </a:rPr>
              <a:t>Flight delays are influenced by many factors, not just one. </a:t>
            </a:r>
            <a:r>
              <a:rPr lang="en-US" sz="1900">
                <a:ea typeface="+mn-lt"/>
                <a:cs typeface="+mn-lt"/>
              </a:rPr>
              <a:t>Time of day captures congestion effects. Airline and airport reflect operational differences</a:t>
            </a:r>
          </a:p>
          <a:p>
            <a:endParaRPr lang="en-US" sz="1900">
              <a:ea typeface="等线" panose="02110004020202020204"/>
            </a:endParaRPr>
          </a:p>
          <a:p>
            <a:r>
              <a:rPr lang="en-US" sz="1900">
                <a:ea typeface="+mn-lt"/>
                <a:cs typeface="+mn-lt"/>
              </a:rPr>
              <a:t>A simpler model with fewer variables would fail to capture this complexity and would be less reliable and less persuasive.</a:t>
            </a:r>
          </a:p>
        </p:txBody>
      </p:sp>
      <p:pic>
        <p:nvPicPr>
          <p:cNvPr id="7" name="Graphic 6" descr="飞机">
            <a:extLst>
              <a:ext uri="{FF2B5EF4-FFF2-40B4-BE49-F238E27FC236}">
                <a16:creationId xmlns:a16="http://schemas.microsoft.com/office/drawing/2014/main" id="{A2AF1514-AB42-7552-5B7D-6946C3B2EA4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1388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0D700-B63D-31B9-AC71-DB147C209748}"/>
              </a:ext>
            </a:extLst>
          </p:cNvPr>
          <p:cNvSpPr>
            <a:spLocks noGrp="1"/>
          </p:cNvSpPr>
          <p:nvPr>
            <p:ph type="title"/>
          </p:nvPr>
        </p:nvSpPr>
        <p:spPr>
          <a:xfrm>
            <a:off x="793662" y="386930"/>
            <a:ext cx="10066122" cy="1298448"/>
          </a:xfrm>
        </p:spPr>
        <p:txBody>
          <a:bodyPr anchor="b">
            <a:normAutofit/>
          </a:bodyPr>
          <a:lstStyle/>
          <a:p>
            <a:r>
              <a:rPr lang="en-US">
                <a:ea typeface="等线 Light"/>
              </a:rPr>
              <a:t>Throughout All the work, Our Answer is...</a:t>
            </a:r>
            <a:endParaRPr lang="en-US"/>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4F1C026-0E0F-5AAD-BA6D-244A9AD389D0}"/>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2000">
                <a:ea typeface="+mn-lt"/>
                <a:cs typeface="+mn-lt"/>
              </a:rPr>
              <a:t>Flight delays cannot be explained by one factor alone—they result from the combined effects of time, airline/airport operations, weather conditions, and aircraft characteristics.</a:t>
            </a:r>
            <a:endParaRPr lang="en-US" sz="2000"/>
          </a:p>
        </p:txBody>
      </p:sp>
      <p:pic>
        <p:nvPicPr>
          <p:cNvPr id="7" name="Graphic 6" descr="抵达">
            <a:extLst>
              <a:ext uri="{FF2B5EF4-FFF2-40B4-BE49-F238E27FC236}">
                <a16:creationId xmlns:a16="http://schemas.microsoft.com/office/drawing/2014/main" id="{983AFC8B-03F7-4C6E-20FF-31A6B9CE6A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07775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0FEB65-5113-0635-9740-658F31FA5982}"/>
              </a:ext>
            </a:extLst>
          </p:cNvPr>
          <p:cNvSpPr>
            <a:spLocks noGrp="1"/>
          </p:cNvSpPr>
          <p:nvPr>
            <p:ph type="title"/>
          </p:nvPr>
        </p:nvSpPr>
        <p:spPr>
          <a:xfrm>
            <a:off x="793662" y="386930"/>
            <a:ext cx="10066122" cy="1298448"/>
          </a:xfrm>
        </p:spPr>
        <p:txBody>
          <a:bodyPr anchor="b">
            <a:normAutofit/>
          </a:bodyPr>
          <a:lstStyle/>
          <a:p>
            <a:r>
              <a:rPr lang="en-US" sz="4800">
                <a:ea typeface="等线 Light"/>
              </a:rPr>
              <a:t>Conclusion</a:t>
            </a:r>
            <a:endParaRPr lang="en-US" sz="48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0E696E-70C4-437A-B77B-ED04EE196F94}"/>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1300">
                <a:ea typeface="+mn-lt"/>
                <a:cs typeface="+mn-lt"/>
              </a:rPr>
              <a:t>Flight delays are influenced by </a:t>
            </a:r>
            <a:r>
              <a:rPr lang="en-US" sz="1300" b="1">
                <a:ea typeface="+mn-lt"/>
                <a:cs typeface="+mn-lt"/>
              </a:rPr>
              <a:t>multiple interacting factors</a:t>
            </a:r>
            <a:r>
              <a:rPr lang="en-US" sz="1300">
                <a:ea typeface="+mn-lt"/>
                <a:cs typeface="+mn-lt"/>
              </a:rPr>
              <a:t>, not a single cause. </a:t>
            </a:r>
            <a:endParaRPr lang="en-US" sz="1300">
              <a:ea typeface="等线" panose="02110004020202020204"/>
            </a:endParaRPr>
          </a:p>
          <a:p>
            <a:r>
              <a:rPr lang="en-US" sz="1300">
                <a:ea typeface="+mn-lt"/>
                <a:cs typeface="+mn-lt"/>
              </a:rPr>
              <a:t>Key predictors include: </a:t>
            </a:r>
            <a:endParaRPr lang="en-US" sz="1300"/>
          </a:p>
          <a:p>
            <a:r>
              <a:rPr lang="en-US" sz="1300">
                <a:ea typeface="+mn-lt"/>
                <a:cs typeface="+mn-lt"/>
              </a:rPr>
              <a:t>Time factors (hour, month) </a:t>
            </a:r>
            <a:endParaRPr lang="en-US" sz="1300"/>
          </a:p>
          <a:p>
            <a:r>
              <a:rPr lang="en-US" sz="1300">
                <a:ea typeface="+mn-lt"/>
                <a:cs typeface="+mn-lt"/>
              </a:rPr>
              <a:t>Airline and airport characteristics </a:t>
            </a:r>
            <a:endParaRPr lang="en-US" sz="1300"/>
          </a:p>
          <a:p>
            <a:r>
              <a:rPr lang="en-US" sz="1300">
                <a:ea typeface="+mn-lt"/>
                <a:cs typeface="+mn-lt"/>
              </a:rPr>
              <a:t>Weather conditions </a:t>
            </a:r>
            <a:endParaRPr lang="en-US" sz="1300"/>
          </a:p>
          <a:p>
            <a:r>
              <a:rPr lang="en-US" sz="1300">
                <a:ea typeface="+mn-lt"/>
                <a:cs typeface="+mn-lt"/>
              </a:rPr>
              <a:t>Aircraft model </a:t>
            </a:r>
            <a:endParaRPr lang="en-US" sz="1300"/>
          </a:p>
          <a:p>
            <a:r>
              <a:rPr lang="en-US" sz="1300">
                <a:ea typeface="+mn-lt"/>
                <a:cs typeface="+mn-lt"/>
              </a:rPr>
              <a:t>Time of day captures </a:t>
            </a:r>
            <a:r>
              <a:rPr lang="en-US" sz="1300" b="1">
                <a:ea typeface="+mn-lt"/>
                <a:cs typeface="+mn-lt"/>
              </a:rPr>
              <a:t>congestion patterns</a:t>
            </a:r>
            <a:r>
              <a:rPr lang="en-US" sz="1300">
                <a:ea typeface="+mn-lt"/>
                <a:cs typeface="+mn-lt"/>
              </a:rPr>
              <a:t>, while airline and airport variables reflect </a:t>
            </a:r>
            <a:r>
              <a:rPr lang="en-US" sz="1300" b="1">
                <a:ea typeface="+mn-lt"/>
                <a:cs typeface="+mn-lt"/>
              </a:rPr>
              <a:t>operational differences</a:t>
            </a:r>
            <a:r>
              <a:rPr lang="en-US" sz="1300">
                <a:ea typeface="+mn-lt"/>
                <a:cs typeface="+mn-lt"/>
              </a:rPr>
              <a:t>. </a:t>
            </a:r>
            <a:endParaRPr lang="en-US" sz="1300"/>
          </a:p>
          <a:p>
            <a:r>
              <a:rPr lang="en-US" sz="1300">
                <a:ea typeface="+mn-lt"/>
                <a:cs typeface="+mn-lt"/>
              </a:rPr>
              <a:t>Weather and aircraft-related factors further improve model accuracy and realism. </a:t>
            </a:r>
            <a:endParaRPr lang="en-US" sz="1300"/>
          </a:p>
          <a:p>
            <a:r>
              <a:rPr lang="en-US" sz="1300">
                <a:ea typeface="+mn-lt"/>
                <a:cs typeface="+mn-lt"/>
              </a:rPr>
              <a:t>A model with fewer variables would </a:t>
            </a:r>
            <a:r>
              <a:rPr lang="en-US" sz="1300" b="1">
                <a:ea typeface="+mn-lt"/>
                <a:cs typeface="+mn-lt"/>
              </a:rPr>
              <a:t>oversimplify the problem</a:t>
            </a:r>
            <a:r>
              <a:rPr lang="en-US" sz="1300">
                <a:ea typeface="+mn-lt"/>
                <a:cs typeface="+mn-lt"/>
              </a:rPr>
              <a:t> and reduce predictive performance.</a:t>
            </a:r>
            <a:endParaRPr lang="en-US" sz="1300"/>
          </a:p>
          <a:p>
            <a:endParaRPr lang="en-US" sz="1300">
              <a:ea typeface="等线"/>
            </a:endParaRPr>
          </a:p>
        </p:txBody>
      </p:sp>
      <p:pic>
        <p:nvPicPr>
          <p:cNvPr id="7" name="Graphic 6" descr="时钟">
            <a:extLst>
              <a:ext uri="{FF2B5EF4-FFF2-40B4-BE49-F238E27FC236}">
                <a16:creationId xmlns:a16="http://schemas.microsoft.com/office/drawing/2014/main" id="{6B5B206F-A855-7403-8F96-56DE5C5860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96755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F42FC-4F47-2FE9-CD06-6D4449522FD9}"/>
              </a:ext>
            </a:extLst>
          </p:cNvPr>
          <p:cNvSpPr>
            <a:spLocks noGrp="1"/>
          </p:cNvSpPr>
          <p:nvPr>
            <p:ph type="title"/>
          </p:nvPr>
        </p:nvSpPr>
        <p:spPr/>
        <p:txBody>
          <a:bodyPr/>
          <a:lstStyle/>
          <a:p>
            <a:r>
              <a:rPr lang="en-US">
                <a:ea typeface="等线 Light"/>
              </a:rPr>
              <a:t>Concerns and Problems</a:t>
            </a:r>
            <a:endParaRPr lang="en-US"/>
          </a:p>
        </p:txBody>
      </p:sp>
      <p:sp>
        <p:nvSpPr>
          <p:cNvPr id="3" name="Content Placeholder 2">
            <a:extLst>
              <a:ext uri="{FF2B5EF4-FFF2-40B4-BE49-F238E27FC236}">
                <a16:creationId xmlns:a16="http://schemas.microsoft.com/office/drawing/2014/main" id="{8FD4D194-E676-1F15-4704-2D5CD4DF7CF0}"/>
              </a:ext>
            </a:extLst>
          </p:cNvPr>
          <p:cNvSpPr>
            <a:spLocks noGrp="1"/>
          </p:cNvSpPr>
          <p:nvPr>
            <p:ph idx="1"/>
          </p:nvPr>
        </p:nvSpPr>
        <p:spPr/>
        <p:txBody>
          <a:bodyPr vert="horz" lIns="91440" tIns="45720" rIns="91440" bIns="45720" rtlCol="0" anchor="t">
            <a:normAutofit/>
          </a:bodyPr>
          <a:lstStyle/>
          <a:p>
            <a:r>
              <a:rPr lang="en-US">
                <a:ea typeface="等线"/>
              </a:rPr>
              <a:t> We wanted to create </a:t>
            </a:r>
            <a:r>
              <a:rPr lang="en-US" err="1">
                <a:ea typeface="等线"/>
              </a:rPr>
              <a:t>Domestic_Flight</a:t>
            </a:r>
            <a:r>
              <a:rPr lang="en-US">
                <a:ea typeface="等线"/>
              </a:rPr>
              <a:t> as an indicator; however, we gave up this idea due to technical restriction.</a:t>
            </a:r>
          </a:p>
          <a:p>
            <a:r>
              <a:rPr lang="en-US">
                <a:ea typeface="等线"/>
              </a:rPr>
              <a:t> There are moderate missing values in weather dataset and they are usually concentrated, simply </a:t>
            </a:r>
            <a:r>
              <a:rPr lang="en-US" err="1">
                <a:ea typeface="等线"/>
              </a:rPr>
              <a:t>omiting</a:t>
            </a:r>
            <a:r>
              <a:rPr lang="en-US">
                <a:ea typeface="等线"/>
              </a:rPr>
              <a:t> lines corresponding to these days will cause data missing in specific days</a:t>
            </a:r>
          </a:p>
          <a:p>
            <a:r>
              <a:rPr lang="en-US">
                <a:ea typeface="等线"/>
              </a:rPr>
              <a:t> The flights dataset only includes flights after 5:00AM, however it should not be the case.</a:t>
            </a:r>
          </a:p>
          <a:p>
            <a:endParaRPr lang="en-US">
              <a:ea typeface="等线"/>
            </a:endParaRPr>
          </a:p>
          <a:p>
            <a:endParaRPr lang="en-US">
              <a:ea typeface="等线"/>
            </a:endParaRPr>
          </a:p>
        </p:txBody>
      </p:sp>
    </p:spTree>
    <p:extLst>
      <p:ext uri="{BB962C8B-B14F-4D97-AF65-F5344CB8AC3E}">
        <p14:creationId xmlns:p14="http://schemas.microsoft.com/office/powerpoint/2010/main" val="14560210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DA6C9-A2E6-A6CB-04F6-3411DEC9FDB9}"/>
              </a:ext>
            </a:extLst>
          </p:cNvPr>
          <p:cNvSpPr>
            <a:spLocks noGrp="1"/>
          </p:cNvSpPr>
          <p:nvPr>
            <p:ph type="title"/>
          </p:nvPr>
        </p:nvSpPr>
        <p:spPr/>
        <p:txBody>
          <a:bodyPr/>
          <a:lstStyle/>
          <a:p>
            <a:r>
              <a:rPr lang="en-US">
                <a:ea typeface="等线 Light"/>
              </a:rPr>
              <a:t>Our next steps?</a:t>
            </a:r>
            <a:endParaRPr lang="en-US"/>
          </a:p>
        </p:txBody>
      </p:sp>
      <p:sp>
        <p:nvSpPr>
          <p:cNvPr id="3" name="Content Placeholder 2">
            <a:extLst>
              <a:ext uri="{FF2B5EF4-FFF2-40B4-BE49-F238E27FC236}">
                <a16:creationId xmlns:a16="http://schemas.microsoft.com/office/drawing/2014/main" id="{BDB33AEE-37E8-EE47-AD1A-9A20C45AD900}"/>
              </a:ext>
            </a:extLst>
          </p:cNvPr>
          <p:cNvSpPr>
            <a:spLocks noGrp="1"/>
          </p:cNvSpPr>
          <p:nvPr>
            <p:ph idx="1"/>
          </p:nvPr>
        </p:nvSpPr>
        <p:spPr/>
        <p:txBody>
          <a:bodyPr vert="horz" lIns="91440" tIns="45720" rIns="91440" bIns="45720" rtlCol="0" anchor="t">
            <a:normAutofit/>
          </a:bodyPr>
          <a:lstStyle/>
          <a:p>
            <a:r>
              <a:rPr lang="en-US">
                <a:ea typeface="等线"/>
              </a:rPr>
              <a:t>Keep on improving our GLM model</a:t>
            </a:r>
          </a:p>
          <a:p>
            <a:r>
              <a:rPr lang="en-US">
                <a:ea typeface="等线"/>
              </a:rPr>
              <a:t>Introduce machine learning to handle interactions automatically and compare results' accuracy with present model.</a:t>
            </a:r>
          </a:p>
        </p:txBody>
      </p:sp>
    </p:spTree>
    <p:extLst>
      <p:ext uri="{BB962C8B-B14F-4D97-AF65-F5344CB8AC3E}">
        <p14:creationId xmlns:p14="http://schemas.microsoft.com/office/powerpoint/2010/main" val="2876092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Question marks in a line and one question mark is lit">
            <a:extLst>
              <a:ext uri="{FF2B5EF4-FFF2-40B4-BE49-F238E27FC236}">
                <a16:creationId xmlns:a16="http://schemas.microsoft.com/office/drawing/2014/main" id="{AF12BBF5-A387-540B-5D97-ED69D0BDACBC}"/>
              </a:ext>
            </a:extLst>
          </p:cNvPr>
          <p:cNvPicPr>
            <a:picLocks noChangeAspect="1"/>
          </p:cNvPicPr>
          <p:nvPr/>
        </p:nvPicPr>
        <p:blipFill>
          <a:blip r:embed="rId2"/>
          <a:srcRect t="721" r="23418" b="8376"/>
          <a:stretch>
            <a:fillRect/>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EF5100-7ABE-D826-A7A6-9D6AE824EC0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Questions?</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30235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39</Slides>
  <Notes>1</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主题​​</vt:lpstr>
      <vt:lpstr>NYC Airport Delay Report</vt:lpstr>
      <vt:lpstr>Background and Research Question</vt:lpstr>
      <vt:lpstr>Initial Data Overview</vt:lpstr>
      <vt:lpstr>Why Choosing This Dataset?</vt:lpstr>
      <vt:lpstr>Advantage of Using This Dataset:</vt:lpstr>
      <vt:lpstr>Overall Summary</vt:lpstr>
      <vt:lpstr>Data Processing and EDA</vt:lpstr>
      <vt:lpstr>Missing Value in Dataset?</vt:lpstr>
      <vt:lpstr>Missing Value in Dataset?</vt:lpstr>
      <vt:lpstr>Response Variable Distribution</vt:lpstr>
      <vt:lpstr>Response Variable Distribution</vt:lpstr>
      <vt:lpstr>Categorical Predictors</vt:lpstr>
      <vt:lpstr>Quantitative Predictors</vt:lpstr>
      <vt:lpstr>Interesting Findings: Time of the Day</vt:lpstr>
      <vt:lpstr>Interesting Findings: Time of the Day</vt:lpstr>
      <vt:lpstr>Interesting Finding: Month</vt:lpstr>
      <vt:lpstr>Interesting Finding: Season</vt:lpstr>
      <vt:lpstr>Interesting Finding: Airport</vt:lpstr>
      <vt:lpstr>Significant predictor?</vt:lpstr>
      <vt:lpstr>PowerPoint Presentation</vt:lpstr>
      <vt:lpstr>About variation of precipitation/visualbility</vt:lpstr>
      <vt:lpstr>About variation of precipitation/visibility</vt:lpstr>
      <vt:lpstr>About Combined dataset</vt:lpstr>
      <vt:lpstr>Modeling and Model Adjustment</vt:lpstr>
      <vt:lpstr>PowerPoint Presentation</vt:lpstr>
      <vt:lpstr>Variables we used</vt:lpstr>
      <vt:lpstr>AIC Selection</vt:lpstr>
      <vt:lpstr>Final Model Insights</vt:lpstr>
      <vt:lpstr>Likelihood Ratio Test to check if model variable should be added</vt:lpstr>
      <vt:lpstr>Initial Correlations</vt:lpstr>
      <vt:lpstr>VIF check</vt:lpstr>
      <vt:lpstr>Leverage Check</vt:lpstr>
      <vt:lpstr>Analysis, Interpretation and Conclusion</vt:lpstr>
      <vt:lpstr>Final Model and Why This Makes Sense?</vt:lpstr>
      <vt:lpstr>Throughout All the work, Our Answer is...</vt:lpstr>
      <vt:lpstr>Conclusion</vt:lpstr>
      <vt:lpstr>Concerns and Problems</vt:lpstr>
      <vt:lpstr>Our next steps?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Airport Delay Report</dc:title>
  <dc:creator>Yan, Ziqi</dc:creator>
  <cp:revision>3</cp:revision>
  <dcterms:created xsi:type="dcterms:W3CDTF">2026-04-22T14:16:11Z</dcterms:created>
  <dcterms:modified xsi:type="dcterms:W3CDTF">2026-07-15T02:56:53Z</dcterms:modified>
</cp:coreProperties>
</file>